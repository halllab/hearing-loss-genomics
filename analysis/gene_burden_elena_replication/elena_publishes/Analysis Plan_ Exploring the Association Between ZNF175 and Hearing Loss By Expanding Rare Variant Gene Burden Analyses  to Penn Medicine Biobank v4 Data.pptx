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Bitt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3F274B-CEC1-4018-916B-AF01425F5016}">
  <a:tblStyle styleId="{D73F274B-CEC1-4018-916B-AF01425F50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9EAB17B-20BF-49A4-82AB-832D473DBDD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Bitter-regular.fntdata"/><Relationship Id="rId21" Type="http://schemas.openxmlformats.org/officeDocument/2006/relationships/slide" Target="slides/slide15.xml"/><Relationship Id="rId24" Type="http://schemas.openxmlformats.org/officeDocument/2006/relationships/font" Target="fonts/Bitter-italic.fntdata"/><Relationship Id="rId23" Type="http://schemas.openxmlformats.org/officeDocument/2006/relationships/font" Target="fonts/Bit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Bit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ournals.plos.org/plosgenetics/article?id=10.1371/journal.pgen.1010584#pgen-1010584-t001"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Possible Titles: </a:t>
            </a:r>
            <a:endParaRPr/>
          </a:p>
          <a:p>
            <a:pPr indent="0" lvl="0" marL="0" rtl="0" algn="l">
              <a:spcBef>
                <a:spcPts val="0"/>
              </a:spcBef>
              <a:spcAft>
                <a:spcPts val="0"/>
              </a:spcAft>
              <a:buNone/>
            </a:pPr>
            <a:r>
              <a:rPr b="1" lang="en">
                <a:solidFill>
                  <a:schemeClr val="dk1"/>
                </a:solidFill>
              </a:rPr>
              <a:t>Re-evaluating the Association Between ZNF175 and Hearing Loss Using Penn Medicine Biobank v4 Exome Data</a:t>
            </a:r>
            <a:endParaRPr b="1">
              <a:solidFill>
                <a:schemeClr val="dk1"/>
              </a:solidFill>
            </a:endParaRPr>
          </a:p>
          <a:p>
            <a:pPr indent="0" lvl="0" marL="0" rtl="0" algn="l">
              <a:spcBef>
                <a:spcPts val="0"/>
              </a:spcBef>
              <a:spcAft>
                <a:spcPts val="0"/>
              </a:spcAft>
              <a:buNone/>
            </a:pPr>
            <a:r>
              <a:rPr b="1" lang="en">
                <a:solidFill>
                  <a:schemeClr val="dk1"/>
                </a:solidFill>
              </a:rPr>
              <a:t>Expanding Rare Variant Gene Burden Analyses to the Latest Penn Medicine Biobank Exome Release</a:t>
            </a:r>
            <a:endParaRPr b="1">
              <a:solidFill>
                <a:schemeClr val="dk1"/>
              </a:solidFill>
            </a:endParaRPr>
          </a:p>
          <a:p>
            <a:pPr indent="0" lvl="0" marL="0" rtl="0" algn="l">
              <a:spcBef>
                <a:spcPts val="0"/>
              </a:spcBef>
              <a:spcAft>
                <a:spcPts val="0"/>
              </a:spcAft>
              <a:buNone/>
            </a:pPr>
            <a:r>
              <a:rPr lang="en"/>
              <a:t>Replication of the ZNF175 Hearing Loss Association in the Penn Medicine Biobank v4 </a:t>
            </a:r>
            <a:endParaRPr/>
          </a:p>
          <a:p>
            <a:pPr indent="0" lvl="0" marL="0" rtl="0" algn="l">
              <a:spcBef>
                <a:spcPts val="0"/>
              </a:spcBef>
              <a:spcAft>
                <a:spcPts val="0"/>
              </a:spcAft>
              <a:buNone/>
            </a:pPr>
            <a:r>
              <a:rPr lang="en"/>
              <a:t>Assessing the ZNF175 Hearing Loss Signal in an Expanded PMBB Cohort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Chasing the ZNF175 Signal: Extending Rare Variant Gene Burden Analyses to Expanded PMBB Cohort</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1d8f471b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1d8f471b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Park: </a:t>
            </a:r>
            <a:r>
              <a:rPr lang="en" sz="1000">
                <a:solidFill>
                  <a:srgbClr val="202020"/>
                </a:solidFill>
                <a:highlight>
                  <a:srgbClr val="FFFFFF"/>
                </a:highlight>
              </a:rPr>
              <a:t>Andre Rico slides lo</a:t>
            </a:r>
            <a:endParaRPr sz="1000">
              <a:solidFill>
                <a:srgbClr val="202020"/>
              </a:solidFill>
              <a:highlight>
                <a:srgbClr val="FFFFFF"/>
              </a:highlight>
            </a:endParaRPr>
          </a:p>
          <a:p>
            <a:pPr indent="0" lvl="0" marL="0" rtl="0" algn="l">
              <a:spcBef>
                <a:spcPts val="0"/>
              </a:spcBef>
              <a:spcAft>
                <a:spcPts val="0"/>
              </a:spcAft>
              <a:buNone/>
            </a:pPr>
            <a:r>
              <a:t/>
            </a:r>
            <a:endParaRPr sz="1000">
              <a:solidFill>
                <a:srgbClr val="202020"/>
              </a:solidFill>
              <a:highlight>
                <a:srgbClr val="FFFFFF"/>
              </a:highlight>
            </a:endParaRPr>
          </a:p>
          <a:p>
            <a:pPr indent="0" lvl="0" marL="0" rtl="0" algn="l">
              <a:spcBef>
                <a:spcPts val="0"/>
              </a:spcBef>
              <a:spcAft>
                <a:spcPts val="0"/>
              </a:spcAft>
              <a:buNone/>
            </a:pPr>
            <a:r>
              <a:rPr lang="en" sz="1000">
                <a:solidFill>
                  <a:srgbClr val="202020"/>
                </a:solidFill>
                <a:highlight>
                  <a:srgbClr val="FFFFFF"/>
                </a:highlight>
              </a:rPr>
              <a:t> And </a:t>
            </a:r>
            <a:endParaRPr sz="1000">
              <a:solidFill>
                <a:srgbClr val="202020"/>
              </a:solidFill>
              <a:highlight>
                <a:srgbClr val="FFFFFF"/>
              </a:highlight>
            </a:endParaRPr>
          </a:p>
          <a:p>
            <a:pPr indent="0" lvl="0" marL="0" rtl="0" algn="l">
              <a:spcBef>
                <a:spcPts val="0"/>
              </a:spcBef>
              <a:spcAft>
                <a:spcPts val="0"/>
              </a:spcAft>
              <a:buNone/>
            </a:pPr>
            <a:r>
              <a:t/>
            </a:r>
            <a:endParaRPr sz="1000">
              <a:solidFill>
                <a:srgbClr val="202020"/>
              </a:solidFill>
              <a:highlight>
                <a:srgbClr val="FFFFFF"/>
              </a:highlight>
            </a:endParaRPr>
          </a:p>
          <a:p>
            <a:pPr indent="0" lvl="0" marL="0" rtl="0" algn="l">
              <a:spcBef>
                <a:spcPts val="0"/>
              </a:spcBef>
              <a:spcAft>
                <a:spcPts val="0"/>
              </a:spcAft>
              <a:buNone/>
            </a:pPr>
            <a:r>
              <a:rPr lang="en" sz="1350">
                <a:solidFill>
                  <a:srgbClr val="222222"/>
                </a:solidFill>
                <a:highlight>
                  <a:srgbClr val="FFFFFF"/>
                </a:highlight>
                <a:latin typeface="Times New Roman"/>
                <a:ea typeface="Times New Roman"/>
                <a:cs typeface="Times New Roman"/>
                <a:sym typeface="Times New Roman"/>
              </a:rPr>
              <a:t>Each disease phenotype was tested for an association with each gene burden or single variant using a logistic regression model adjusted for age, age squared, sex and the first ten principal components (PCs) of genetic ancestry.</a:t>
            </a:r>
            <a:r>
              <a:rPr lang="en">
                <a:solidFill>
                  <a:schemeClr val="dk1"/>
                </a:solidFill>
              </a:rPr>
              <a:t> </a:t>
            </a:r>
            <a:r>
              <a:rPr lang="en" sz="1000">
                <a:solidFill>
                  <a:srgbClr val="202020"/>
                </a:solidFill>
                <a:highlight>
                  <a:srgbClr val="FFFFFF"/>
                </a:highlight>
              </a:rPr>
              <a:t>l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Hui: </a:t>
            </a:r>
            <a:r>
              <a:rPr lang="en" sz="1000">
                <a:solidFill>
                  <a:srgbClr val="202020"/>
                </a:solidFill>
                <a:highlight>
                  <a:srgbClr val="FFFFFF"/>
                </a:highlight>
              </a:rPr>
              <a:t>We regressed degree HL on the burden count, defined as the total number of predicted deleterious variants in known HL genes including sex, age, age</a:t>
            </a:r>
            <a:r>
              <a:rPr baseline="30000" lang="en">
                <a:solidFill>
                  <a:srgbClr val="202020"/>
                </a:solidFill>
                <a:highlight>
                  <a:srgbClr val="FFFFFF"/>
                </a:highlight>
              </a:rPr>
              <a:t>2</a:t>
            </a:r>
            <a:r>
              <a:rPr lang="en" sz="1000">
                <a:solidFill>
                  <a:srgbClr val="202020"/>
                </a:solidFill>
                <a:highlight>
                  <a:srgbClr val="FFFFFF"/>
                </a:highlight>
              </a:rPr>
              <a:t> and 20 genomic principal components as covariates, and find that degree HL is associated with burden count (β = 4.8×10</a:t>
            </a:r>
            <a:r>
              <a:rPr baseline="30000" lang="en">
                <a:solidFill>
                  <a:srgbClr val="202020"/>
                </a:solidFill>
                <a:highlight>
                  <a:srgbClr val="FFFFFF"/>
                </a:highlight>
              </a:rPr>
              <a:t>−3</a:t>
            </a:r>
            <a:r>
              <a:rPr lang="en" sz="1000">
                <a:solidFill>
                  <a:srgbClr val="202020"/>
                </a:solidFill>
                <a:highlight>
                  <a:srgbClr val="FFFFFF"/>
                </a:highlight>
              </a:rPr>
              <a:t> per-variant, p = 0.03, </a:t>
            </a:r>
            <a:r>
              <a:rPr lang="en" sz="1000" u="sng">
                <a:solidFill>
                  <a:srgbClr val="037165"/>
                </a:solidFill>
                <a:highlight>
                  <a:srgbClr val="FFFFFF"/>
                </a:highlight>
                <a:hlinkClick r:id="rId2">
                  <a:extLst>
                    <a:ext uri="{A12FA001-AC4F-418D-AE19-62706E023703}">
                      <ahyp:hlinkClr val="tx"/>
                    </a:ext>
                  </a:extLst>
                </a:hlinkClick>
              </a:rPr>
              <a:t>Table 1</a:t>
            </a:r>
            <a:r>
              <a:rPr lang="en" sz="1000">
                <a:solidFill>
                  <a:srgbClr val="202020"/>
                </a:solidFill>
                <a:highlight>
                  <a:srgbClr val="FFFFFF"/>
                </a:highlight>
              </a:rPr>
              <a:t>). </a:t>
            </a:r>
            <a:r>
              <a:rPr lang="en">
                <a:solidFill>
                  <a:schemeClr val="dk1"/>
                </a:solidFill>
              </a:rPr>
              <a:t>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1d8f471b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1d8f471b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1d8f471b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1d8f471b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1d8f471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1d8f471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1d8f471b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1d8f471b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1d8f471b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1d8f471b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1d8f471b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1d8f471b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1d8f471b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1d8f471b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1d8f471b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1d8f471b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1d8f471b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1d8f471b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1d8f471b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1d8f471b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1d8f471bd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1d8f471bd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1d8f471bd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1d8f471bd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1d8f471bd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1d8f471bd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649676" y="960375"/>
            <a:ext cx="78411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980">
                <a:solidFill>
                  <a:srgbClr val="FF3866"/>
                </a:solidFill>
                <a:latin typeface="Bitter"/>
                <a:ea typeface="Bitter"/>
                <a:cs typeface="Bitter"/>
                <a:sym typeface="Bitter"/>
              </a:rPr>
              <a:t>Exploring the </a:t>
            </a:r>
            <a:r>
              <a:rPr b="1" lang="en" sz="2980">
                <a:solidFill>
                  <a:srgbClr val="FF3866"/>
                </a:solidFill>
                <a:latin typeface="Bitter"/>
                <a:ea typeface="Bitter"/>
                <a:cs typeface="Bitter"/>
                <a:sym typeface="Bitter"/>
              </a:rPr>
              <a:t>Association Between ZNF175 and Hearing Loss By Expanding Rare Variant Gene Burden Analyses  to Penn Medicine Biobank v4 Data</a:t>
            </a:r>
            <a:endParaRPr b="1" sz="2980">
              <a:solidFill>
                <a:srgbClr val="FF3866"/>
              </a:solidFill>
              <a:latin typeface="Bitter"/>
              <a:ea typeface="Bitter"/>
              <a:cs typeface="Bitter"/>
              <a:sym typeface="Bitter"/>
            </a:endParaRPr>
          </a:p>
        </p:txBody>
      </p:sp>
      <p:sp>
        <p:nvSpPr>
          <p:cNvPr id="55" name="Google Shape;55;p13"/>
          <p:cNvSpPr txBox="1"/>
          <p:nvPr>
            <p:ph idx="1" type="subTitle"/>
          </p:nvPr>
        </p:nvSpPr>
        <p:spPr>
          <a:xfrm>
            <a:off x="311703" y="3319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solidFill>
                  <a:schemeClr val="dk1"/>
                </a:solidFill>
              </a:rPr>
              <a:t>Analysis Plan Draft </a:t>
            </a:r>
            <a:endParaRPr sz="2200">
              <a:solidFill>
                <a:schemeClr val="dk1"/>
              </a:solidFill>
            </a:endParaRPr>
          </a:p>
        </p:txBody>
      </p:sp>
      <p:sp>
        <p:nvSpPr>
          <p:cNvPr id="56" name="Google Shape;56;p13"/>
          <p:cNvSpPr/>
          <p:nvPr/>
        </p:nvSpPr>
        <p:spPr>
          <a:xfrm>
            <a:off x="239725" y="182400"/>
            <a:ext cx="8661000" cy="4737000"/>
          </a:xfrm>
          <a:prstGeom prst="frame">
            <a:avLst>
              <a:gd fmla="val 4127" name="adj1"/>
            </a:avLst>
          </a:prstGeom>
          <a:solidFill>
            <a:srgbClr val="FF38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3370059" y="3737514"/>
            <a:ext cx="400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Elena Sretenovi</a:t>
            </a:r>
            <a:r>
              <a:rPr lang="en" sz="1200">
                <a:solidFill>
                  <a:schemeClr val="dk1"/>
                </a:solidFill>
              </a:rPr>
              <a:t>ć, </a:t>
            </a:r>
            <a:r>
              <a:rPr lang="en" sz="1200">
                <a:solidFill>
                  <a:schemeClr val="dk1"/>
                </a:solidFill>
              </a:rPr>
              <a:t>Week 5, 7/1/26</a:t>
            </a:r>
            <a:endParaRPr sz="1200">
              <a:solidFill>
                <a:schemeClr val="dk1"/>
              </a:solidFill>
            </a:endParaRPr>
          </a:p>
        </p:txBody>
      </p:sp>
      <p:sp>
        <p:nvSpPr>
          <p:cNvPr id="58" name="Google Shape;58;p13"/>
          <p:cNvSpPr/>
          <p:nvPr/>
        </p:nvSpPr>
        <p:spPr>
          <a:xfrm>
            <a:off x="1244850" y="3213200"/>
            <a:ext cx="6654300" cy="1065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Background: What Has Been Done</a:t>
            </a:r>
            <a:endParaRPr b="1">
              <a:solidFill>
                <a:srgbClr val="FF3866"/>
              </a:solidFill>
              <a:latin typeface="Bitter"/>
              <a:ea typeface="Bitter"/>
              <a:cs typeface="Bitter"/>
              <a:sym typeface="Bitter"/>
            </a:endParaRPr>
          </a:p>
        </p:txBody>
      </p:sp>
      <p:sp>
        <p:nvSpPr>
          <p:cNvPr id="64" name="Google Shape;64;p14"/>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graphicFrame>
        <p:nvGraphicFramePr>
          <p:cNvPr id="65" name="Google Shape;65;p14"/>
          <p:cNvGraphicFramePr/>
          <p:nvPr/>
        </p:nvGraphicFramePr>
        <p:xfrm>
          <a:off x="311700" y="1109125"/>
          <a:ext cx="3000000" cy="3000000"/>
        </p:xfrm>
        <a:graphic>
          <a:graphicData uri="http://schemas.openxmlformats.org/drawingml/2006/table">
            <a:tbl>
              <a:tblPr>
                <a:noFill/>
                <a:tableStyleId>{D73F274B-CEC1-4018-916B-AF01425F5016}</a:tableStyleId>
              </a:tblPr>
              <a:tblGrid>
                <a:gridCol w="1478500"/>
                <a:gridCol w="3545300"/>
                <a:gridCol w="3496800"/>
              </a:tblGrid>
              <a:tr h="2546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lnSpc>
                          <a:spcPct val="115000"/>
                        </a:lnSpc>
                        <a:spcBef>
                          <a:spcPts val="0"/>
                        </a:spcBef>
                        <a:spcAft>
                          <a:spcPts val="0"/>
                        </a:spcAft>
                        <a:buNone/>
                      </a:pPr>
                      <a:r>
                        <a:rPr b="1" i="1" lang="en" sz="2000">
                          <a:solidFill>
                            <a:schemeClr val="dk1"/>
                          </a:solidFill>
                        </a:rPr>
                        <a:t>2021 Park Paper </a:t>
                      </a:r>
                      <a:endParaRPr/>
                    </a:p>
                  </a:txBody>
                  <a:tcPr marT="91425" marB="91425" marR="91425" marL="91425"/>
                </a:tc>
                <a:tc>
                  <a:txBody>
                    <a:bodyPr/>
                    <a:lstStyle/>
                    <a:p>
                      <a:pPr indent="0" lvl="0" marL="0" rtl="0" algn="l">
                        <a:lnSpc>
                          <a:spcPct val="115000"/>
                        </a:lnSpc>
                        <a:spcBef>
                          <a:spcPts val="0"/>
                        </a:spcBef>
                        <a:spcAft>
                          <a:spcPts val="0"/>
                        </a:spcAft>
                        <a:buNone/>
                      </a:pPr>
                      <a:r>
                        <a:rPr b="1" i="1" lang="en" sz="2000">
                          <a:solidFill>
                            <a:schemeClr val="dk1"/>
                          </a:solidFill>
                        </a:rPr>
                        <a:t>2023 Hui Paper</a:t>
                      </a:r>
                      <a:endParaRPr/>
                    </a:p>
                  </a:txBody>
                  <a:tcPr marT="91425" marB="91425" marR="91425" marL="91425"/>
                </a:tc>
              </a:tr>
              <a:tr h="190950">
                <a:tc>
                  <a:txBody>
                    <a:bodyPr/>
                    <a:lstStyle/>
                    <a:p>
                      <a:pPr indent="0" lvl="0" marL="0" rtl="0" algn="l">
                        <a:spcBef>
                          <a:spcPts val="0"/>
                        </a:spcBef>
                        <a:spcAft>
                          <a:spcPts val="0"/>
                        </a:spcAft>
                        <a:buNone/>
                      </a:pPr>
                      <a:r>
                        <a:rPr b="1" i="1" lang="en" sz="1200"/>
                        <a:t>Study Design</a:t>
                      </a:r>
                      <a:endParaRPr b="1" i="1" sz="1200"/>
                    </a:p>
                  </a:txBody>
                  <a:tcPr marT="91425" marB="91425" marR="91425" marL="91425"/>
                </a:tc>
                <a:tc>
                  <a:txBody>
                    <a:bodyPr/>
                    <a:lstStyle/>
                    <a:p>
                      <a:pPr indent="0" lvl="0" marL="0" rtl="0" algn="l">
                        <a:lnSpc>
                          <a:spcPct val="115000"/>
                        </a:lnSpc>
                        <a:spcBef>
                          <a:spcPts val="0"/>
                        </a:spcBef>
                        <a:spcAft>
                          <a:spcPts val="0"/>
                        </a:spcAft>
                        <a:buNone/>
                      </a:pPr>
                      <a:r>
                        <a:rPr lang="en" sz="900">
                          <a:solidFill>
                            <a:schemeClr val="dk1"/>
                          </a:solidFill>
                        </a:rPr>
                        <a:t>Genome first, rare variant ExWAS</a:t>
                      </a:r>
                      <a:endParaRPr sz="900"/>
                    </a:p>
                  </a:txBody>
                  <a:tcPr marT="91425" marB="91425" marR="91425" marL="91425"/>
                </a:tc>
                <a:tc>
                  <a:txBody>
                    <a:bodyPr/>
                    <a:lstStyle/>
                    <a:p>
                      <a:pPr indent="0" lvl="0" marL="0" rtl="0" algn="l">
                        <a:lnSpc>
                          <a:spcPct val="115000"/>
                        </a:lnSpc>
                        <a:spcBef>
                          <a:spcPts val="0"/>
                        </a:spcBef>
                        <a:spcAft>
                          <a:spcPts val="0"/>
                        </a:spcAft>
                        <a:buNone/>
                      </a:pPr>
                      <a:r>
                        <a:rPr lang="en" sz="900">
                          <a:solidFill>
                            <a:schemeClr val="dk1"/>
                          </a:solidFill>
                        </a:rPr>
                        <a:t>Gene burden + GWAS</a:t>
                      </a:r>
                      <a:endParaRPr sz="900"/>
                    </a:p>
                  </a:txBody>
                  <a:tcPr marT="91425" marB="91425" marR="91425" marL="91425"/>
                </a:tc>
              </a:tr>
              <a:tr h="190950">
                <a:tc>
                  <a:txBody>
                    <a:bodyPr/>
                    <a:lstStyle/>
                    <a:p>
                      <a:pPr indent="0" lvl="0" marL="0" rtl="0" algn="l">
                        <a:spcBef>
                          <a:spcPts val="0"/>
                        </a:spcBef>
                        <a:spcAft>
                          <a:spcPts val="0"/>
                        </a:spcAft>
                        <a:buNone/>
                      </a:pPr>
                      <a:r>
                        <a:rPr b="1" i="1" lang="en" sz="1200"/>
                        <a:t>Dataset</a:t>
                      </a:r>
                      <a:endParaRPr b="1" i="1" sz="1200"/>
                    </a:p>
                  </a:txBody>
                  <a:tcPr marT="91425" marB="91425" marR="91425" marL="91425"/>
                </a:tc>
                <a:tc>
                  <a:txBody>
                    <a:bodyPr/>
                    <a:lstStyle/>
                    <a:p>
                      <a:pPr indent="0" lvl="0" marL="0" rtl="0" algn="l">
                        <a:spcBef>
                          <a:spcPts val="0"/>
                        </a:spcBef>
                        <a:spcAft>
                          <a:spcPts val="0"/>
                        </a:spcAft>
                        <a:buNone/>
                      </a:pPr>
                      <a:r>
                        <a:rPr lang="en" sz="900"/>
                        <a:t>~11K exome</a:t>
                      </a:r>
                      <a:endParaRPr sz="900"/>
                    </a:p>
                  </a:txBody>
                  <a:tcPr marT="91425" marB="91425" marR="91425" marL="91425"/>
                </a:tc>
                <a:tc>
                  <a:txBody>
                    <a:bodyPr/>
                    <a:lstStyle/>
                    <a:p>
                      <a:pPr indent="0" lvl="0" marL="0" rtl="0" algn="l">
                        <a:spcBef>
                          <a:spcPts val="0"/>
                        </a:spcBef>
                        <a:spcAft>
                          <a:spcPts val="0"/>
                        </a:spcAft>
                        <a:buNone/>
                      </a:pPr>
                      <a:r>
                        <a:rPr lang="en" sz="900"/>
                        <a:t>~44K exome</a:t>
                      </a:r>
                      <a:endParaRPr sz="900"/>
                    </a:p>
                  </a:txBody>
                  <a:tcPr marT="91425" marB="91425" marR="91425" marL="91425"/>
                </a:tc>
              </a:tr>
              <a:tr h="190950">
                <a:tc>
                  <a:txBody>
                    <a:bodyPr/>
                    <a:lstStyle/>
                    <a:p>
                      <a:pPr indent="0" lvl="0" marL="0" rtl="0" algn="l">
                        <a:spcBef>
                          <a:spcPts val="0"/>
                        </a:spcBef>
                        <a:spcAft>
                          <a:spcPts val="0"/>
                        </a:spcAft>
                        <a:buNone/>
                      </a:pPr>
                      <a:r>
                        <a:rPr b="1" i="1" lang="en" sz="1200"/>
                        <a:t>Variants Included </a:t>
                      </a:r>
                      <a:endParaRPr b="1" i="1" sz="1200"/>
                    </a:p>
                  </a:txBody>
                  <a:tcPr marT="91425" marB="91425" marR="91425" marL="91425"/>
                </a:tc>
                <a:tc>
                  <a:txBody>
                    <a:bodyPr/>
                    <a:lstStyle/>
                    <a:p>
                      <a:pPr indent="0" lvl="0" marL="0" rtl="0" algn="l">
                        <a:spcBef>
                          <a:spcPts val="0"/>
                        </a:spcBef>
                        <a:spcAft>
                          <a:spcPts val="0"/>
                        </a:spcAft>
                        <a:buNone/>
                      </a:pPr>
                      <a:r>
                        <a:rPr lang="en" sz="900"/>
                        <a:t>Rare pLOF variants </a:t>
                      </a:r>
                      <a:endParaRPr sz="900"/>
                    </a:p>
                  </a:txBody>
                  <a:tcPr marT="91425" marB="91425" marR="91425" marL="91425"/>
                </a:tc>
                <a:tc>
                  <a:txBody>
                    <a:bodyPr/>
                    <a:lstStyle/>
                    <a:p>
                      <a:pPr indent="0" lvl="0" marL="0" rtl="0" algn="l">
                        <a:lnSpc>
                          <a:spcPct val="115000"/>
                        </a:lnSpc>
                        <a:spcBef>
                          <a:spcPts val="0"/>
                        </a:spcBef>
                        <a:spcAft>
                          <a:spcPts val="0"/>
                        </a:spcAft>
                        <a:buNone/>
                      </a:pPr>
                      <a:r>
                        <a:rPr lang="en" sz="900">
                          <a:solidFill>
                            <a:schemeClr val="dk1"/>
                          </a:solidFill>
                        </a:rPr>
                        <a:t>Ra</a:t>
                      </a:r>
                      <a:r>
                        <a:rPr lang="en" sz="900">
                          <a:solidFill>
                            <a:schemeClr val="dk1"/>
                          </a:solidFill>
                        </a:rPr>
                        <a:t>re pLOF variants and missense REVEL &gt; 0.6 </a:t>
                      </a:r>
                      <a:endParaRPr sz="900"/>
                    </a:p>
                  </a:txBody>
                  <a:tcPr marT="91425" marB="91425" marR="91425" marL="91425"/>
                </a:tc>
              </a:tr>
              <a:tr h="238675">
                <a:tc>
                  <a:txBody>
                    <a:bodyPr/>
                    <a:lstStyle/>
                    <a:p>
                      <a:pPr indent="0" lvl="0" marL="0" rtl="0" algn="l">
                        <a:spcBef>
                          <a:spcPts val="0"/>
                        </a:spcBef>
                        <a:spcAft>
                          <a:spcPts val="0"/>
                        </a:spcAft>
                        <a:buNone/>
                      </a:pPr>
                      <a:r>
                        <a:rPr b="1" i="1" lang="en" sz="1200"/>
                        <a:t>Phenotypes </a:t>
                      </a:r>
                      <a:endParaRPr b="1" i="1"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t>Electronic Health Records (EHR) (Phecode 388 for tinnitus and  Phecode 389 for hearing loss)</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t>Audiogram hybrid hearing loss (not just phecodes) </a:t>
                      </a:r>
                      <a:endParaRPr sz="900"/>
                    </a:p>
                  </a:txBody>
                  <a:tcPr marT="91425" marB="91425" marR="91425" marL="91425">
                    <a:lnB cap="flat" cmpd="sng" w="9525">
                      <a:solidFill>
                        <a:srgbClr val="9E9E9E"/>
                      </a:solidFill>
                      <a:prstDash val="solid"/>
                      <a:round/>
                      <a:headEnd len="sm" w="sm" type="none"/>
                      <a:tailEnd len="sm" w="sm" type="none"/>
                    </a:lnB>
                  </a:tcPr>
                </a:tc>
              </a:tr>
              <a:tr h="238675">
                <a:tc>
                  <a:txBody>
                    <a:bodyPr/>
                    <a:lstStyle/>
                    <a:p>
                      <a:pPr indent="0" lvl="0" marL="0" rtl="0" algn="l">
                        <a:spcBef>
                          <a:spcPts val="0"/>
                        </a:spcBef>
                        <a:spcAft>
                          <a:spcPts val="0"/>
                        </a:spcAft>
                        <a:buNone/>
                      </a:pPr>
                      <a:r>
                        <a:rPr b="1" i="1" lang="en" sz="1200"/>
                        <a:t>Covariates</a:t>
                      </a:r>
                      <a:endParaRPr b="1" i="1"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rPr>
                        <a:t> age + age</a:t>
                      </a:r>
                      <a:r>
                        <a:rPr lang="en" sz="1200">
                          <a:solidFill>
                            <a:schemeClr val="dk1"/>
                          </a:solidFill>
                        </a:rPr>
                        <a:t>²</a:t>
                      </a:r>
                      <a:r>
                        <a:rPr lang="en" sz="900">
                          <a:solidFill>
                            <a:schemeClr val="dk1"/>
                          </a:solidFill>
                        </a:rPr>
                        <a:t> + sex + PC1-10</a:t>
                      </a:r>
                      <a:endParaRPr sz="9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 age + age</a:t>
                      </a:r>
                      <a:r>
                        <a:rPr lang="en" sz="1200">
                          <a:solidFill>
                            <a:schemeClr val="dk1"/>
                          </a:solidFill>
                        </a:rPr>
                        <a:t>²</a:t>
                      </a:r>
                      <a:r>
                        <a:rPr lang="en" sz="900">
                          <a:solidFill>
                            <a:schemeClr val="dk1"/>
                          </a:solidFill>
                        </a:rPr>
                        <a:t> + sex + PC1-20</a:t>
                      </a:r>
                      <a:endParaRPr sz="9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08225">
                <a:tc>
                  <a:txBody>
                    <a:bodyPr/>
                    <a:lstStyle/>
                    <a:p>
                      <a:pPr indent="0" lvl="0" marL="0" rtl="0" algn="l">
                        <a:spcBef>
                          <a:spcPts val="0"/>
                        </a:spcBef>
                        <a:spcAft>
                          <a:spcPts val="0"/>
                        </a:spcAft>
                        <a:buNone/>
                      </a:pPr>
                      <a:r>
                        <a:rPr b="1" i="1" lang="en" sz="1200"/>
                        <a:t>ZNF175? </a:t>
                      </a:r>
                      <a:endParaRPr b="1" i="1" sz="1200"/>
                    </a:p>
                  </a:txBody>
                  <a:tcPr marT="91425" marB="91425" marR="91425" marL="91425">
                    <a:lnT cap="flat" cmpd="sng" w="9525">
                      <a:solidFill>
                        <a:srgbClr val="9E9E9E"/>
                      </a:solidFill>
                      <a:prstDash val="solid"/>
                      <a:round/>
                      <a:headEnd len="sm" w="sm" type="none"/>
                      <a:tailEnd len="sm" w="sm" type="none"/>
                    </a:lnT>
                  </a:tcPr>
                </a:tc>
                <a:tc>
                  <a:txBody>
                    <a:bodyPr/>
                    <a:lstStyle/>
                    <a:p>
                      <a:pPr indent="-273050" lvl="0" marL="457200" rtl="0" algn="l">
                        <a:lnSpc>
                          <a:spcPct val="115000"/>
                        </a:lnSpc>
                        <a:spcBef>
                          <a:spcPts val="0"/>
                        </a:spcBef>
                        <a:spcAft>
                          <a:spcPts val="0"/>
                        </a:spcAft>
                        <a:buClr>
                          <a:schemeClr val="dk1"/>
                        </a:buClr>
                        <a:buSzPts val="700"/>
                        <a:buChar char="●"/>
                      </a:pPr>
                      <a:r>
                        <a:rPr lang="en" sz="700">
                          <a:solidFill>
                            <a:schemeClr val="dk1"/>
                          </a:solidFill>
                        </a:rPr>
                        <a:t>The paper was not just hearing loss focused, but it Identified genes associated with hearing loss and tinnitus </a:t>
                      </a:r>
                      <a:endParaRPr sz="700">
                        <a:solidFill>
                          <a:srgbClr val="FF3866"/>
                        </a:solidFill>
                      </a:endParaRPr>
                    </a:p>
                    <a:p>
                      <a:pPr indent="-273050" lvl="0" marL="457200" rtl="0" algn="l">
                        <a:lnSpc>
                          <a:spcPct val="115000"/>
                        </a:lnSpc>
                        <a:spcBef>
                          <a:spcPts val="0"/>
                        </a:spcBef>
                        <a:spcAft>
                          <a:spcPts val="0"/>
                        </a:spcAft>
                        <a:buClr>
                          <a:srgbClr val="FF3866"/>
                        </a:buClr>
                        <a:buSzPts val="700"/>
                        <a:buChar char="●"/>
                      </a:pPr>
                      <a:r>
                        <a:rPr lang="en" sz="700">
                          <a:solidFill>
                            <a:srgbClr val="FF3866"/>
                          </a:solidFill>
                        </a:rPr>
                        <a:t>First appearance of ZNF175 </a:t>
                      </a:r>
                      <a:endParaRPr sz="700">
                        <a:solidFill>
                          <a:srgbClr val="FF3866"/>
                        </a:solidFill>
                      </a:endParaRPr>
                    </a:p>
                    <a:p>
                      <a:pPr indent="-273050" lvl="1" marL="914400" rtl="0" algn="l">
                        <a:lnSpc>
                          <a:spcPct val="115000"/>
                        </a:lnSpc>
                        <a:spcBef>
                          <a:spcPts val="0"/>
                        </a:spcBef>
                        <a:spcAft>
                          <a:spcPts val="0"/>
                        </a:spcAft>
                        <a:buClr>
                          <a:schemeClr val="dk1"/>
                        </a:buClr>
                        <a:buSzPts val="700"/>
                        <a:buChar char="○"/>
                      </a:pPr>
                      <a:r>
                        <a:rPr lang="en" sz="700">
                          <a:solidFill>
                            <a:schemeClr val="dk1"/>
                          </a:solidFill>
                        </a:rPr>
                        <a:t>Association between ZNF175 and tinnitus (and almost hearing loss) </a:t>
                      </a:r>
                      <a:endParaRPr sz="700">
                        <a:solidFill>
                          <a:schemeClr val="dk1"/>
                        </a:solidFill>
                      </a:endParaRPr>
                    </a:p>
                    <a:p>
                      <a:pPr indent="-273050" lvl="2" marL="1371600" rtl="0" algn="l">
                        <a:lnSpc>
                          <a:spcPct val="115000"/>
                        </a:lnSpc>
                        <a:spcBef>
                          <a:spcPts val="0"/>
                        </a:spcBef>
                        <a:spcAft>
                          <a:spcPts val="0"/>
                        </a:spcAft>
                        <a:buClr>
                          <a:schemeClr val="dk1"/>
                        </a:buClr>
                        <a:buSzPts val="700"/>
                        <a:buChar char="■"/>
                      </a:pPr>
                      <a:r>
                        <a:rPr lang="en" sz="700">
                          <a:solidFill>
                            <a:schemeClr val="dk1"/>
                          </a:solidFill>
                        </a:rPr>
                        <a:t>ZNF175 and tinnitus → p = 3.24 x 10^-10 </a:t>
                      </a:r>
                      <a:r>
                        <a:rPr lang="en" sz="700"/>
                        <a:t>(genome wide bar is now  p &lt; 5x10E-8 , so this is very significant</a:t>
                      </a:r>
                      <a:r>
                        <a:rPr lang="en" sz="700">
                          <a:solidFill>
                            <a:schemeClr val="dk1"/>
                          </a:solidFill>
                        </a:rPr>
                        <a:t>)</a:t>
                      </a:r>
                      <a:endParaRPr sz="700">
                        <a:solidFill>
                          <a:schemeClr val="dk1"/>
                        </a:solidFill>
                      </a:endParaRPr>
                    </a:p>
                    <a:p>
                      <a:pPr indent="-273050" lvl="1" marL="914400" rtl="0" algn="l">
                        <a:lnSpc>
                          <a:spcPct val="115000"/>
                        </a:lnSpc>
                        <a:spcBef>
                          <a:spcPts val="0"/>
                        </a:spcBef>
                        <a:spcAft>
                          <a:spcPts val="0"/>
                        </a:spcAft>
                        <a:buClr>
                          <a:schemeClr val="dk1"/>
                        </a:buClr>
                        <a:buSzPts val="700"/>
                        <a:buChar char="○"/>
                      </a:pPr>
                      <a:r>
                        <a:rPr lang="en" sz="700">
                          <a:solidFill>
                            <a:schemeClr val="dk1"/>
                          </a:solidFill>
                        </a:rPr>
                        <a:t>This association was replicated in BioMe, DiscovEHR and UKB </a:t>
                      </a:r>
                      <a:endParaRPr sz="700"/>
                    </a:p>
                  </a:txBody>
                  <a:tcPr marT="91425" marB="91425" marR="91425" marL="91425">
                    <a:lnT cap="flat" cmpd="sng" w="9525">
                      <a:solidFill>
                        <a:srgbClr val="9E9E9E"/>
                      </a:solidFill>
                      <a:prstDash val="solid"/>
                      <a:round/>
                      <a:headEnd len="sm" w="sm" type="none"/>
                      <a:tailEnd len="sm" w="sm" type="none"/>
                    </a:lnT>
                  </a:tcPr>
                </a:tc>
                <a:tc>
                  <a:txBody>
                    <a:bodyPr/>
                    <a:lstStyle/>
                    <a:p>
                      <a:pPr indent="-273050" lvl="0" marL="457200" rtl="0" algn="l">
                        <a:lnSpc>
                          <a:spcPct val="115000"/>
                        </a:lnSpc>
                        <a:spcBef>
                          <a:spcPts val="0"/>
                        </a:spcBef>
                        <a:spcAft>
                          <a:spcPts val="0"/>
                        </a:spcAft>
                        <a:buClr>
                          <a:schemeClr val="dk1"/>
                        </a:buClr>
                        <a:buSzPts val="700"/>
                        <a:buChar char="●"/>
                      </a:pPr>
                      <a:r>
                        <a:rPr lang="en" sz="700">
                          <a:solidFill>
                            <a:schemeClr val="dk1"/>
                          </a:solidFill>
                        </a:rPr>
                        <a:t>Recovered known hearing loss genes and novel candidates </a:t>
                      </a:r>
                      <a:endParaRPr sz="700">
                        <a:solidFill>
                          <a:schemeClr val="dk1"/>
                        </a:solidFill>
                      </a:endParaRPr>
                    </a:p>
                    <a:p>
                      <a:pPr indent="-273050" lvl="0" marL="457200" rtl="0" algn="l">
                        <a:lnSpc>
                          <a:spcPct val="115000"/>
                        </a:lnSpc>
                        <a:spcBef>
                          <a:spcPts val="0"/>
                        </a:spcBef>
                        <a:spcAft>
                          <a:spcPts val="0"/>
                        </a:spcAft>
                        <a:buClr>
                          <a:srgbClr val="FF3866"/>
                        </a:buClr>
                        <a:buSzPts val="700"/>
                        <a:buChar char="●"/>
                      </a:pPr>
                      <a:r>
                        <a:rPr lang="en" sz="700">
                          <a:solidFill>
                            <a:srgbClr val="FF3866"/>
                          </a:solidFill>
                        </a:rPr>
                        <a:t>Loss of ZNF175 signal</a:t>
                      </a:r>
                      <a:endParaRPr sz="700">
                        <a:solidFill>
                          <a:srgbClr val="FF3866"/>
                        </a:solidFill>
                      </a:endParaRPr>
                    </a:p>
                    <a:p>
                      <a:pPr indent="-273050" lvl="1" marL="914400" rtl="0" algn="l">
                        <a:lnSpc>
                          <a:spcPct val="115000"/>
                        </a:lnSpc>
                        <a:spcBef>
                          <a:spcPts val="0"/>
                        </a:spcBef>
                        <a:spcAft>
                          <a:spcPts val="0"/>
                        </a:spcAft>
                        <a:buClr>
                          <a:schemeClr val="dk1"/>
                        </a:buClr>
                        <a:buSzPts val="700"/>
                        <a:buChar char="○"/>
                      </a:pPr>
                      <a:r>
                        <a:rPr lang="en" sz="700">
                          <a:solidFill>
                            <a:schemeClr val="dk1"/>
                          </a:solidFill>
                        </a:rPr>
                        <a:t>The ZNF175–tinnitus signal had decayed below the discovery threshold</a:t>
                      </a:r>
                      <a:endParaRPr sz="700">
                        <a:solidFill>
                          <a:schemeClr val="dk1"/>
                        </a:solidFill>
                      </a:endParaRPr>
                    </a:p>
                    <a:p>
                      <a:pPr indent="-273050" lvl="0" marL="457200" rtl="0" algn="l">
                        <a:lnSpc>
                          <a:spcPct val="115000"/>
                        </a:lnSpc>
                        <a:spcBef>
                          <a:spcPts val="0"/>
                        </a:spcBef>
                        <a:spcAft>
                          <a:spcPts val="0"/>
                        </a:spcAft>
                        <a:buClr>
                          <a:schemeClr val="dk1"/>
                        </a:buClr>
                        <a:buSzPts val="700"/>
                        <a:buChar char="●"/>
                      </a:pPr>
                      <a:r>
                        <a:rPr lang="en" sz="700">
                          <a:solidFill>
                            <a:schemeClr val="dk1"/>
                          </a:solidFill>
                        </a:rPr>
                        <a:t>The Chapter 1 Replication Pipeline was based on this paper</a:t>
                      </a:r>
                      <a:endParaRPr sz="700"/>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Background: What Andre Has Done</a:t>
            </a:r>
            <a:endParaRPr b="1">
              <a:solidFill>
                <a:srgbClr val="FF3866"/>
              </a:solidFill>
              <a:latin typeface="Bitter"/>
              <a:ea typeface="Bitter"/>
              <a:cs typeface="Bitter"/>
              <a:sym typeface="Bitter"/>
            </a:endParaRPr>
          </a:p>
        </p:txBody>
      </p:sp>
      <p:sp>
        <p:nvSpPr>
          <p:cNvPr id="71" name="Google Shape;71;p15"/>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72" name="Google Shape;72;p15"/>
          <p:cNvSpPr txBox="1"/>
          <p:nvPr>
            <p:ph idx="1" type="body"/>
          </p:nvPr>
        </p:nvSpPr>
        <p:spPr>
          <a:xfrm>
            <a:off x="311700" y="1151675"/>
            <a:ext cx="8520600" cy="37209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Performed Park’s pipeline identically on both PMBB cohorts (</a:t>
            </a:r>
            <a:r>
              <a:rPr lang="en" sz="1100">
                <a:solidFill>
                  <a:srgbClr val="FF3866"/>
                </a:solidFill>
              </a:rPr>
              <a:t>~11K exome and ~44K exome</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Asked whether carrier status of ZNF175 predict disease (tinnitus)</a:t>
            </a:r>
            <a:endParaRPr sz="1100">
              <a:solidFill>
                <a:schemeClr val="dk1"/>
              </a:solidFill>
            </a:endParaRPr>
          </a:p>
        </p:txBody>
      </p:sp>
      <p:graphicFrame>
        <p:nvGraphicFramePr>
          <p:cNvPr id="73" name="Google Shape;73;p15"/>
          <p:cNvGraphicFramePr/>
          <p:nvPr/>
        </p:nvGraphicFramePr>
        <p:xfrm>
          <a:off x="327352" y="1821350"/>
          <a:ext cx="3000000" cy="3000000"/>
        </p:xfrm>
        <a:graphic>
          <a:graphicData uri="http://schemas.openxmlformats.org/drawingml/2006/table">
            <a:tbl>
              <a:tblPr>
                <a:noFill/>
                <a:tableStyleId>{D73F274B-CEC1-4018-916B-AF01425F5016}</a:tableStyleId>
              </a:tblPr>
              <a:tblGrid>
                <a:gridCol w="2507600"/>
                <a:gridCol w="6013000"/>
              </a:tblGrid>
              <a:tr h="392275">
                <a:tc>
                  <a:txBody>
                    <a:bodyPr/>
                    <a:lstStyle/>
                    <a:p>
                      <a:pPr indent="0" lvl="0" marL="0" rtl="0" algn="l">
                        <a:spcBef>
                          <a:spcPts val="0"/>
                        </a:spcBef>
                        <a:spcAft>
                          <a:spcPts val="0"/>
                        </a:spcAft>
                        <a:buNone/>
                      </a:pPr>
                      <a:r>
                        <a:rPr b="1" i="1" lang="en" sz="1200"/>
                        <a:t>Variants Included </a:t>
                      </a:r>
                      <a:endParaRPr b="1" i="1" sz="1200"/>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rPr>
                        <a:t>pLOF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MAF ≤ 0.1% </a:t>
                      </a:r>
                      <a:endParaRPr sz="1200">
                        <a:solidFill>
                          <a:schemeClr val="dk1"/>
                        </a:solidFill>
                      </a:endParaRPr>
                    </a:p>
                  </a:txBody>
                  <a:tcPr marT="91425" marB="91425" marR="91425" marL="91425"/>
                </a:tc>
              </a:tr>
              <a:tr h="392275">
                <a:tc>
                  <a:txBody>
                    <a:bodyPr/>
                    <a:lstStyle/>
                    <a:p>
                      <a:pPr indent="0" lvl="0" marL="0" rtl="0" algn="l">
                        <a:spcBef>
                          <a:spcPts val="0"/>
                        </a:spcBef>
                        <a:spcAft>
                          <a:spcPts val="0"/>
                        </a:spcAft>
                        <a:buNone/>
                      </a:pPr>
                      <a:r>
                        <a:rPr b="1" i="1" lang="en" sz="1200"/>
                        <a:t>Phenotypes </a:t>
                      </a:r>
                      <a:endParaRPr b="1" i="1" sz="1200"/>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rPr>
                        <a:t>tinnitus (ICD 388.3</a:t>
                      </a:r>
                      <a:r>
                        <a:rPr lang="en" sz="1200"/>
                        <a:t>x / H93.1x, rule-of-2)</a:t>
                      </a:r>
                      <a:endParaRPr sz="1200"/>
                    </a:p>
                    <a:p>
                      <a:pPr indent="-304800" lvl="0" marL="457200" rtl="0" algn="l">
                        <a:lnSpc>
                          <a:spcPct val="115000"/>
                        </a:lnSpc>
                        <a:spcBef>
                          <a:spcPts val="0"/>
                        </a:spcBef>
                        <a:spcAft>
                          <a:spcPts val="0"/>
                        </a:spcAft>
                        <a:buClr>
                          <a:schemeClr val="dk1"/>
                        </a:buClr>
                        <a:buSzPts val="1200"/>
                        <a:buChar char="●"/>
                      </a:pPr>
                      <a:r>
                        <a:rPr lang="en" sz="1200"/>
                        <a:t>Rule-of-2: A person is considered a case only if the diagnosis appears at least twice in the electronic health recor</a:t>
                      </a:r>
                      <a:r>
                        <a:rPr lang="en" sz="1200">
                          <a:solidFill>
                            <a:schemeClr val="dk1"/>
                          </a:solidFill>
                        </a:rPr>
                        <a:t>d. </a:t>
                      </a:r>
                      <a:endParaRPr sz="1200">
                        <a:solidFill>
                          <a:schemeClr val="dk1"/>
                        </a:solidFill>
                      </a:endParaRPr>
                    </a:p>
                  </a:txBody>
                  <a:tcPr marT="91425" marB="91425" marR="91425" marL="91425"/>
                </a:tc>
              </a:tr>
              <a:tr h="1062975">
                <a:tc>
                  <a:txBody>
                    <a:bodyPr/>
                    <a:lstStyle/>
                    <a:p>
                      <a:pPr indent="0" lvl="0" marL="0" rtl="0" algn="l">
                        <a:spcBef>
                          <a:spcPts val="0"/>
                        </a:spcBef>
                        <a:spcAft>
                          <a:spcPts val="0"/>
                        </a:spcAft>
                        <a:buNone/>
                      </a:pPr>
                      <a:r>
                        <a:rPr b="1" i="1" lang="en" sz="1200"/>
                        <a:t>Covariates </a:t>
                      </a:r>
                      <a:endParaRPr b="1" i="1" sz="1200"/>
                    </a:p>
                  </a:txBody>
                  <a:tcPr marT="91425" marB="91425" marR="91425" marL="91425"/>
                </a:tc>
                <a:tc>
                  <a:txBody>
                    <a:bodyPr/>
                    <a:lstStyle/>
                    <a:p>
                      <a:pPr indent="-304800" lvl="0" marL="457200" rtl="0" algn="l">
                        <a:lnSpc>
                          <a:spcPct val="115000"/>
                        </a:lnSpc>
                        <a:spcBef>
                          <a:spcPts val="0"/>
                        </a:spcBef>
                        <a:spcAft>
                          <a:spcPts val="0"/>
                        </a:spcAft>
                        <a:buClr>
                          <a:schemeClr val="dk1"/>
                        </a:buClr>
                        <a:buSzPts val="1200"/>
                        <a:buChar char="●"/>
                      </a:pPr>
                      <a:r>
                        <a:rPr lang="en" sz="1200">
                          <a:solidFill>
                            <a:schemeClr val="dk1"/>
                          </a:solidFill>
                        </a:rPr>
                        <a:t>logistic ~ carrier + age + age² + sex + PC1–10,</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EUR/AFR-stratified + meta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analysis was run separately for different populations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ancestry-specific results were combined through a meta-analysis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p:cNvPicPr preferRelativeResize="0"/>
          <p:nvPr/>
        </p:nvPicPr>
        <p:blipFill>
          <a:blip r:embed="rId3">
            <a:alphaModFix/>
          </a:blip>
          <a:stretch>
            <a:fillRect/>
          </a:stretch>
        </p:blipFill>
        <p:spPr>
          <a:xfrm>
            <a:off x="582788" y="855424"/>
            <a:ext cx="7978424" cy="3086800"/>
          </a:xfrm>
          <a:prstGeom prst="rect">
            <a:avLst/>
          </a:prstGeom>
          <a:noFill/>
          <a:ln>
            <a:noFill/>
          </a:ln>
        </p:spPr>
      </p:pic>
      <p:sp>
        <p:nvSpPr>
          <p:cNvPr id="79" name="Google Shape;79;p16"/>
          <p:cNvSpPr txBox="1"/>
          <p:nvPr/>
        </p:nvSpPr>
        <p:spPr>
          <a:xfrm>
            <a:off x="6705100" y="3942225"/>
            <a:ext cx="2767200" cy="297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Andre’s Slides</a:t>
            </a:r>
            <a:endParaRPr sz="13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My Project</a:t>
            </a:r>
            <a:endParaRPr b="1">
              <a:solidFill>
                <a:srgbClr val="FF3866"/>
              </a:solidFill>
              <a:latin typeface="Bitter"/>
              <a:ea typeface="Bitter"/>
              <a:cs typeface="Bitter"/>
              <a:sym typeface="Bitter"/>
            </a:endParaRPr>
          </a:p>
        </p:txBody>
      </p:sp>
      <p:sp>
        <p:nvSpPr>
          <p:cNvPr id="85" name="Google Shape;85;p17"/>
          <p:cNvSpPr txBox="1"/>
          <p:nvPr>
            <p:ph idx="1" type="body"/>
          </p:nvPr>
        </p:nvSpPr>
        <p:spPr>
          <a:xfrm>
            <a:off x="311700" y="1151675"/>
            <a:ext cx="8520600" cy="3720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dk1"/>
              </a:buClr>
              <a:buSzPts val="1300"/>
              <a:buChar char="●"/>
            </a:pPr>
            <a:r>
              <a:rPr b="1" lang="en" sz="1300">
                <a:solidFill>
                  <a:schemeClr val="dk1"/>
                </a:solidFill>
              </a:rPr>
              <a:t>What are the perceived gaps in the field/knowledge</a:t>
            </a:r>
            <a:endParaRPr b="1"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The Park pipeline analysis has not been run on the latest PMBB data (~70K exomes, v4)</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It is still not known whether the original ZNF175 association is a false positive or if it reflects a real biological effect that is only detectable in a small subset due to potential interactions with environmental factors or other genes</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What question are you answering in this experiment/analysis?</a:t>
            </a:r>
            <a:endParaRPr b="1" sz="1300">
              <a:solidFill>
                <a:schemeClr val="dk1"/>
              </a:solidFill>
            </a:endParaRPr>
          </a:p>
          <a:p>
            <a:pPr indent="-311150" lvl="1" marL="914400" rtl="0" algn="l">
              <a:spcBef>
                <a:spcPts val="0"/>
              </a:spcBef>
              <a:spcAft>
                <a:spcPts val="0"/>
              </a:spcAft>
              <a:buClr>
                <a:srgbClr val="FF3866"/>
              </a:buClr>
              <a:buSzPts val="1300"/>
              <a:buChar char="○"/>
            </a:pPr>
            <a:r>
              <a:rPr b="1" lang="en" sz="1300">
                <a:solidFill>
                  <a:srgbClr val="FF3866"/>
                </a:solidFill>
              </a:rPr>
              <a:t>Why does the ZNF175 signal weaken in larger cohorts? Will the signal disappear entirely with the v4 PMBB data? </a:t>
            </a:r>
            <a:endParaRPr b="1" sz="1300">
              <a:solidFill>
                <a:srgbClr val="FF3866"/>
              </a:solidFill>
            </a:endParaRPr>
          </a:p>
          <a:p>
            <a:pPr indent="-311150" lvl="0" marL="457200" rtl="0" algn="l">
              <a:spcBef>
                <a:spcPts val="0"/>
              </a:spcBef>
              <a:spcAft>
                <a:spcPts val="0"/>
              </a:spcAft>
              <a:buClr>
                <a:schemeClr val="dk1"/>
              </a:buClr>
              <a:buSzPts val="1300"/>
              <a:buChar char="●"/>
            </a:pPr>
            <a:r>
              <a:rPr b="1" lang="en" sz="1300">
                <a:solidFill>
                  <a:schemeClr val="dk1"/>
                </a:solidFill>
              </a:rPr>
              <a:t>What is your hypothesis? If not specifically hypothesis driven, what do you expect to find and why?</a:t>
            </a:r>
            <a:endParaRPr b="1"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Based on the meeting notes and previous discussions, I hypothesize that ZNF175 contributes to hearing loss but acts through a digenic inheritance model rather than a single-gene mechanism. If this hypothesis is correct, expanding the cohort would dilute the overall signal because many newly added ZNF175 carriers would not carry the required modifier factors. However, inspecting the new individuals who are ZNF175 carriers and have hearing loss could yield clues into what other genes are at play here. </a:t>
            </a:r>
            <a:endParaRPr sz="1600"/>
          </a:p>
        </p:txBody>
      </p:sp>
      <p:sp>
        <p:nvSpPr>
          <p:cNvPr id="86" name="Google Shape;86;p17"/>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Data Collection</a:t>
            </a:r>
            <a:endParaRPr b="1">
              <a:solidFill>
                <a:srgbClr val="FF3866"/>
              </a:solidFill>
              <a:latin typeface="Bitter"/>
              <a:ea typeface="Bitter"/>
              <a:cs typeface="Bitter"/>
              <a:sym typeface="Bitter"/>
            </a:endParaRPr>
          </a:p>
        </p:txBody>
      </p:sp>
      <p:sp>
        <p:nvSpPr>
          <p:cNvPr id="92" name="Google Shape;92;p18"/>
          <p:cNvSpPr txBox="1"/>
          <p:nvPr>
            <p:ph idx="1" type="body"/>
          </p:nvPr>
        </p:nvSpPr>
        <p:spPr>
          <a:xfrm>
            <a:off x="311700" y="1151675"/>
            <a:ext cx="8520600" cy="372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dk1"/>
                </a:solidFill>
              </a:rPr>
              <a:t>Dataset</a:t>
            </a:r>
            <a:endParaRPr b="1" sz="13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Human participants (PMBB data)</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The current v4 release includes ~70K samples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Final sample size will likely depend on QC filtering</a:t>
            </a:r>
            <a:endParaRPr sz="1300">
              <a:solidFill>
                <a:schemeClr val="dk1"/>
              </a:solidFill>
            </a:endParaRPr>
          </a:p>
          <a:p>
            <a:pPr indent="0" lvl="0" marL="91440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b="1" lang="en" sz="1300">
                <a:solidFill>
                  <a:schemeClr val="dk1"/>
                </a:solidFill>
              </a:rPr>
              <a:t>Hearing Loss Phenotypes </a:t>
            </a:r>
            <a:endParaRPr b="1" sz="1300">
              <a:solidFill>
                <a:schemeClr val="dk1"/>
              </a:solidFill>
            </a:endParaRPr>
          </a:p>
          <a:p>
            <a:pPr indent="-298450" lvl="1" marL="914400" rtl="0" algn="l">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W</a:t>
            </a:r>
            <a:r>
              <a:rPr lang="en" sz="1100">
                <a:solidFill>
                  <a:schemeClr val="dk1"/>
                </a:solidFill>
              </a:rPr>
              <a:t>hat phenotypes should I include?</a:t>
            </a:r>
            <a:endParaRPr b="1"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t/>
            </a:r>
            <a:endParaRPr b="1" sz="1300">
              <a:solidFill>
                <a:schemeClr val="dk1"/>
              </a:solidFill>
            </a:endParaRPr>
          </a:p>
        </p:txBody>
      </p:sp>
      <p:sp>
        <p:nvSpPr>
          <p:cNvPr id="93" name="Google Shape;93;p18"/>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94" name="Google Shape;94;p18"/>
          <p:cNvSpPr/>
          <p:nvPr/>
        </p:nvSpPr>
        <p:spPr>
          <a:xfrm>
            <a:off x="1224650" y="2887025"/>
            <a:ext cx="2673300" cy="1594800"/>
          </a:xfrm>
          <a:prstGeom prst="ellipse">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Only HL</a:t>
            </a:r>
            <a:endParaRPr>
              <a:solidFill>
                <a:schemeClr val="dk1"/>
              </a:solidFill>
            </a:endParaRPr>
          </a:p>
          <a:p>
            <a:pPr indent="0" lvl="0" marL="0" rtl="0" algn="ctr">
              <a:spcBef>
                <a:spcPts val="0"/>
              </a:spcBef>
              <a:spcAft>
                <a:spcPts val="0"/>
              </a:spcAft>
              <a:buNone/>
            </a:pPr>
            <a:r>
              <a:rPr b="1" lang="en" sz="2000">
                <a:solidFill>
                  <a:schemeClr val="dk1"/>
                </a:solidFill>
              </a:rPr>
              <a:t>or </a:t>
            </a:r>
            <a:endParaRPr b="1" sz="2000">
              <a:solidFill>
                <a:schemeClr val="dk1"/>
              </a:solidFill>
            </a:endParaRPr>
          </a:p>
          <a:p>
            <a:pPr indent="0" lvl="0" marL="0" rtl="0" algn="ctr">
              <a:spcBef>
                <a:spcPts val="0"/>
              </a:spcBef>
              <a:spcAft>
                <a:spcPts val="0"/>
              </a:spcAft>
              <a:buNone/>
            </a:pPr>
            <a:r>
              <a:rPr lang="en">
                <a:solidFill>
                  <a:schemeClr val="dk1"/>
                </a:solidFill>
              </a:rPr>
              <a:t>both HL and tinnitus?</a:t>
            </a:r>
            <a:endParaRPr>
              <a:solidFill>
                <a:schemeClr val="dk1"/>
              </a:solidFill>
            </a:endParaRPr>
          </a:p>
        </p:txBody>
      </p:sp>
      <p:sp>
        <p:nvSpPr>
          <p:cNvPr id="95" name="Google Shape;95;p18"/>
          <p:cNvSpPr/>
          <p:nvPr/>
        </p:nvSpPr>
        <p:spPr>
          <a:xfrm>
            <a:off x="4572000" y="2887025"/>
            <a:ext cx="3093900" cy="1594800"/>
          </a:xfrm>
          <a:prstGeom prst="ellipse">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Phecodes (binary phenotype </a:t>
            </a:r>
            <a:endParaRPr>
              <a:solidFill>
                <a:schemeClr val="dk1"/>
              </a:solidFill>
            </a:endParaRPr>
          </a:p>
          <a:p>
            <a:pPr indent="0" lvl="0" marL="0" rtl="0" algn="ctr">
              <a:spcBef>
                <a:spcPts val="0"/>
              </a:spcBef>
              <a:spcAft>
                <a:spcPts val="0"/>
              </a:spcAft>
              <a:buNone/>
            </a:pPr>
            <a:r>
              <a:rPr b="1" lang="en" sz="2000">
                <a:solidFill>
                  <a:schemeClr val="dk1"/>
                </a:solidFill>
              </a:rPr>
              <a:t>or </a:t>
            </a:r>
            <a:endParaRPr b="1" sz="2000">
              <a:solidFill>
                <a:schemeClr val="dk1"/>
              </a:solidFill>
            </a:endParaRPr>
          </a:p>
          <a:p>
            <a:pPr indent="0" lvl="0" marL="0" rtl="0" algn="ctr">
              <a:spcBef>
                <a:spcPts val="0"/>
              </a:spcBef>
              <a:spcAft>
                <a:spcPts val="0"/>
              </a:spcAft>
              <a:buNone/>
            </a:pPr>
            <a:r>
              <a:rPr lang="en">
                <a:solidFill>
                  <a:schemeClr val="dk1"/>
                </a:solidFill>
              </a:rPr>
              <a:t>audiograms (</a:t>
            </a:r>
            <a:r>
              <a:rPr lang="en">
                <a:solidFill>
                  <a:schemeClr val="dk1"/>
                </a:solidFill>
              </a:rPr>
              <a:t>continuous phenotype</a:t>
            </a:r>
            <a:r>
              <a:rPr lang="en">
                <a:solidFill>
                  <a:schemeClr val="dk1"/>
                </a:solidFill>
              </a:rPr>
              <a:t>)?</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QC</a:t>
            </a:r>
            <a:endParaRPr b="1">
              <a:solidFill>
                <a:srgbClr val="FF3866"/>
              </a:solidFill>
              <a:latin typeface="Bitter"/>
              <a:ea typeface="Bitter"/>
              <a:cs typeface="Bitter"/>
              <a:sym typeface="Bitter"/>
            </a:endParaRPr>
          </a:p>
        </p:txBody>
      </p:sp>
      <p:sp>
        <p:nvSpPr>
          <p:cNvPr id="101" name="Google Shape;101;p19"/>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02" name="Google Shape;102;p19"/>
          <p:cNvSpPr/>
          <p:nvPr/>
        </p:nvSpPr>
        <p:spPr>
          <a:xfrm>
            <a:off x="421175" y="1245475"/>
            <a:ext cx="2516700" cy="3330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PMBB QC</a:t>
            </a:r>
            <a:endParaRPr b="1"/>
          </a:p>
          <a:p>
            <a:pPr indent="0" lvl="0" marL="0" rtl="0" algn="l">
              <a:spcBef>
                <a:spcPts val="0"/>
              </a:spcBef>
              <a:spcAft>
                <a:spcPts val="0"/>
              </a:spcAft>
              <a:buNone/>
            </a:pPr>
            <a:r>
              <a:rPr lang="en" sz="1100"/>
              <a:t>Begin with PMBB v4 exomes. Restrict analysis to samples passing PMBB quality control. </a:t>
            </a:r>
            <a:endParaRPr sz="1100"/>
          </a:p>
          <a:p>
            <a:pPr indent="0" lvl="0" marL="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PMBB data has already undergone QC prior to the release of v4.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 will export the phenotypes and covariates in the same file, and then exclude the samples based if the phenotype or covariate information is missing. </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3" name="Google Shape;103;p19"/>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1.</a:t>
            </a:r>
            <a:endParaRPr b="1" sz="1700">
              <a:solidFill>
                <a:schemeClr val="dk1"/>
              </a:solidFill>
            </a:endParaRPr>
          </a:p>
        </p:txBody>
      </p:sp>
      <p:sp>
        <p:nvSpPr>
          <p:cNvPr id="104" name="Google Shape;104;p19"/>
          <p:cNvSpPr/>
          <p:nvPr/>
        </p:nvSpPr>
        <p:spPr>
          <a:xfrm>
            <a:off x="3411377" y="1214750"/>
            <a:ext cx="5421000" cy="3330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Choose High Quality Variants </a:t>
            </a:r>
            <a:endParaRPr b="1"/>
          </a:p>
          <a:p>
            <a:pPr indent="0" lvl="0" marL="0" rtl="0" algn="l">
              <a:lnSpc>
                <a:spcPct val="115000"/>
              </a:lnSpc>
              <a:spcBef>
                <a:spcPts val="0"/>
              </a:spcBef>
              <a:spcAft>
                <a:spcPts val="0"/>
              </a:spcAft>
              <a:buNone/>
            </a:pPr>
            <a:r>
              <a:rPr lang="en" sz="1100">
                <a:solidFill>
                  <a:schemeClr val="dk1"/>
                </a:solidFill>
              </a:rPr>
              <a:t>Restrict analyses to rare variants meeting the quality thresholds defined in the previous studies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Genotype Call Rate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Exclude variants with genotype call rate &lt;99%</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Monitor how many variants are removed after filtering</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If a large number of variants are dropped, I will report this to Nikki (but a substantial drop is not expected)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Hardy-Weinberg Equilibrium (HWE)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Use p-value threshold of 10⁻⁶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Perform HWE filtering using PLINK 1.9 (not PLINK 2.0)</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Include HWE filtering in SAIGE Step 1 QC procedures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MAF Thresholds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Use 0.0001, 0.001, and 0.01</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Test all three MAF thresholds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Report how many variants remain after each threshold</a:t>
            </a:r>
            <a:r>
              <a:rPr lang="en" sz="1100">
                <a:solidFill>
                  <a:srgbClr val="CC0000"/>
                </a:solidFill>
              </a:rPr>
              <a:t> </a:t>
            </a:r>
            <a:endParaRPr sz="1100">
              <a:solidFill>
                <a:srgbClr val="CC0000"/>
              </a:solidFill>
            </a:endParaRPr>
          </a:p>
          <a:p>
            <a:pPr indent="0" lvl="0" marL="1371600" rtl="0" algn="l">
              <a:lnSpc>
                <a:spcPct val="115000"/>
              </a:lnSpc>
              <a:spcBef>
                <a:spcPts val="0"/>
              </a:spcBef>
              <a:spcAft>
                <a:spcPts val="0"/>
              </a:spcAft>
              <a:buNone/>
            </a:pPr>
            <a:r>
              <a:t/>
            </a:r>
            <a:endParaRPr sz="1100">
              <a:solidFill>
                <a:schemeClr val="dk1"/>
              </a:solidFill>
            </a:endParaRPr>
          </a:p>
          <a:p>
            <a:pPr indent="0" lvl="0" marL="45720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5" name="Google Shape;105;p19"/>
          <p:cNvSpPr txBox="1"/>
          <p:nvPr/>
        </p:nvSpPr>
        <p:spPr>
          <a:xfrm>
            <a:off x="3068373" y="1027176"/>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2</a:t>
            </a:r>
            <a:r>
              <a:rPr b="1" lang="en" sz="1700">
                <a:solidFill>
                  <a:schemeClr val="dk1"/>
                </a:solidFill>
              </a:rPr>
              <a:t>.</a:t>
            </a:r>
            <a:endParaRPr b="1"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QC</a:t>
            </a:r>
            <a:endParaRPr b="1">
              <a:solidFill>
                <a:srgbClr val="FF3866"/>
              </a:solidFill>
              <a:latin typeface="Bitter"/>
              <a:ea typeface="Bitter"/>
              <a:cs typeface="Bitter"/>
              <a:sym typeface="Bitter"/>
            </a:endParaRPr>
          </a:p>
        </p:txBody>
      </p:sp>
      <p:sp>
        <p:nvSpPr>
          <p:cNvPr id="111" name="Google Shape;111;p20"/>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12" name="Google Shape;112;p20"/>
          <p:cNvSpPr/>
          <p:nvPr/>
        </p:nvSpPr>
        <p:spPr>
          <a:xfrm>
            <a:off x="421175" y="1245475"/>
            <a:ext cx="2516700" cy="3330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Classify Variants </a:t>
            </a:r>
            <a:endParaRPr b="1"/>
          </a:p>
          <a:p>
            <a:pPr indent="0" lvl="0" marL="0" rtl="0" algn="l">
              <a:spcBef>
                <a:spcPts val="0"/>
              </a:spcBef>
              <a:spcAft>
                <a:spcPts val="0"/>
              </a:spcAft>
              <a:buNone/>
            </a:pPr>
            <a:r>
              <a:rPr lang="en" sz="1100">
                <a:solidFill>
                  <a:schemeClr val="dk1"/>
                </a:solidFill>
              </a:rPr>
              <a:t>Classify variants using:</a:t>
            </a:r>
            <a:endParaRPr sz="1100">
              <a:solidFill>
                <a:schemeClr val="dk1"/>
              </a:solidFill>
            </a:endParaRPr>
          </a:p>
          <a:p>
            <a:pPr indent="0" lvl="0" marL="0" rtl="0" algn="l">
              <a:spcBef>
                <a:spcPts val="0"/>
              </a:spcBef>
              <a:spcAft>
                <a:spcPts val="0"/>
              </a:spcAft>
              <a:buNone/>
            </a:pPr>
            <a:r>
              <a:rPr b="1" lang="en" sz="1100">
                <a:solidFill>
                  <a:schemeClr val="dk1"/>
                </a:solidFill>
              </a:rPr>
              <a:t>pLOF</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Predicted loss-of-function variants</a:t>
            </a:r>
            <a:endParaRPr sz="1100">
              <a:solidFill>
                <a:schemeClr val="dk1"/>
              </a:solidFill>
            </a:endParaRPr>
          </a:p>
          <a:p>
            <a:pPr indent="0" lvl="0" marL="0" rtl="0" algn="l">
              <a:spcBef>
                <a:spcPts val="0"/>
              </a:spcBef>
              <a:spcAft>
                <a:spcPts val="0"/>
              </a:spcAft>
              <a:buNone/>
            </a:pPr>
            <a:r>
              <a:rPr b="1" lang="en" sz="1100">
                <a:solidFill>
                  <a:schemeClr val="dk1"/>
                </a:solidFill>
              </a:rPr>
              <a:t>Missense </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AlphaMissense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Missense variants classified using AlphaMissense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REVEL</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Missense variants classified using REVEL score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Confirm final REVEL threshold with Nikki (either 0.5 or 0.05).</a:t>
            </a:r>
            <a:endParaRPr sz="1100">
              <a:solidFill>
                <a:schemeClr val="dk1"/>
              </a:solidFill>
            </a:endParaRPr>
          </a:p>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3" name="Google Shape;113;p20"/>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3.</a:t>
            </a:r>
            <a:endParaRPr b="1" sz="1700">
              <a:solidFill>
                <a:schemeClr val="dk1"/>
              </a:solidFill>
            </a:endParaRPr>
          </a:p>
        </p:txBody>
      </p:sp>
      <p:graphicFrame>
        <p:nvGraphicFramePr>
          <p:cNvPr id="114" name="Google Shape;114;p20"/>
          <p:cNvGraphicFramePr/>
          <p:nvPr/>
        </p:nvGraphicFramePr>
        <p:xfrm>
          <a:off x="3113005" y="1057900"/>
          <a:ext cx="3000000" cy="3000000"/>
        </p:xfrm>
        <a:graphic>
          <a:graphicData uri="http://schemas.openxmlformats.org/drawingml/2006/table">
            <a:tbl>
              <a:tblPr>
                <a:noFill/>
                <a:tableStyleId>{E9EAB17B-20BF-49A4-82AB-832D473DBDD2}</a:tableStyleId>
              </a:tblPr>
              <a:tblGrid>
                <a:gridCol w="1862950"/>
                <a:gridCol w="1862950"/>
                <a:gridCol w="1862950"/>
              </a:tblGrid>
              <a:tr h="146050">
                <a:tc>
                  <a:txBody>
                    <a:bodyPr/>
                    <a:lstStyle/>
                    <a:p>
                      <a:pPr indent="0" lvl="0" marL="0" rtl="0" algn="l">
                        <a:spcBef>
                          <a:spcPts val="0"/>
                        </a:spcBef>
                        <a:spcAft>
                          <a:spcPts val="0"/>
                        </a:spcAft>
                        <a:buNone/>
                      </a:pPr>
                      <a:r>
                        <a:rPr i="1" lang="en" sz="1100"/>
                        <a:t>Category</a:t>
                      </a:r>
                      <a:endParaRPr i="1" sz="1100"/>
                    </a:p>
                  </a:txBody>
                  <a:tcPr marT="63500" marB="63500" marR="63500" marL="63500"/>
                </a:tc>
                <a:tc>
                  <a:txBody>
                    <a:bodyPr/>
                    <a:lstStyle/>
                    <a:p>
                      <a:pPr indent="0" lvl="0" marL="0" rtl="0" algn="l">
                        <a:spcBef>
                          <a:spcPts val="0"/>
                        </a:spcBef>
                        <a:spcAft>
                          <a:spcPts val="0"/>
                        </a:spcAft>
                        <a:buNone/>
                      </a:pPr>
                      <a:r>
                        <a:rPr i="1" lang="en" sz="1100"/>
                        <a:t>Definition / Criteria</a:t>
                      </a:r>
                      <a:endParaRPr i="1" sz="1100"/>
                    </a:p>
                  </a:txBody>
                  <a:tcPr marT="63500" marB="63500" marR="63500" marL="63500"/>
                </a:tc>
                <a:tc>
                  <a:txBody>
                    <a:bodyPr/>
                    <a:lstStyle/>
                    <a:p>
                      <a:pPr indent="0" lvl="0" marL="0" rtl="0" algn="l">
                        <a:spcBef>
                          <a:spcPts val="0"/>
                        </a:spcBef>
                        <a:spcAft>
                          <a:spcPts val="0"/>
                        </a:spcAft>
                        <a:buNone/>
                      </a:pPr>
                      <a:r>
                        <a:rPr i="1" lang="en" sz="1100"/>
                        <a:t>Source</a:t>
                      </a:r>
                      <a:endParaRPr i="1" sz="1100"/>
                    </a:p>
                  </a:txBody>
                  <a:tcPr marT="63500" marB="63500" marR="63500" marL="63500"/>
                </a:tc>
              </a:tr>
              <a:tr h="12700">
                <a:tc>
                  <a:txBody>
                    <a:bodyPr/>
                    <a:lstStyle/>
                    <a:p>
                      <a:pPr indent="0" lvl="0" marL="0" rtl="0" algn="l">
                        <a:spcBef>
                          <a:spcPts val="0"/>
                        </a:spcBef>
                        <a:spcAft>
                          <a:spcPts val="0"/>
                        </a:spcAft>
                        <a:buNone/>
                      </a:pPr>
                      <a:r>
                        <a:rPr lang="en" sz="1100"/>
                        <a:t>pLOF (predicted loss-of-function)</a:t>
                      </a:r>
                      <a:endParaRPr sz="1100"/>
                    </a:p>
                  </a:txBody>
                  <a:tcPr marT="63500" marB="63500" marR="63500" marL="63500"/>
                </a:tc>
                <a:tc>
                  <a:txBody>
                    <a:bodyPr/>
                    <a:lstStyle/>
                    <a:p>
                      <a:pPr indent="0" lvl="0" marL="0" rtl="0" algn="l">
                        <a:spcBef>
                          <a:spcPts val="0"/>
                        </a:spcBef>
                        <a:spcAft>
                          <a:spcPts val="0"/>
                        </a:spcAft>
                        <a:buNone/>
                      </a:pPr>
                      <a:r>
                        <a:rPr lang="en" sz="1100"/>
                        <a:t>Frameshift, stop-gained, start-lost, stop-lost, or splice-site variants (SpliceAI &gt;= 0.2)</a:t>
                      </a:r>
                      <a:endParaRPr sz="1100"/>
                    </a:p>
                  </a:txBody>
                  <a:tcPr marT="63500" marB="63500" marR="63500" marL="63500"/>
                </a:tc>
                <a:tc>
                  <a:txBody>
                    <a:bodyPr/>
                    <a:lstStyle/>
                    <a:p>
                      <a:pPr indent="0" lvl="0" marL="0" rtl="0" algn="l">
                        <a:spcBef>
                          <a:spcPts val="0"/>
                        </a:spcBef>
                        <a:spcAft>
                          <a:spcPts val="0"/>
                        </a:spcAft>
                        <a:buNone/>
                      </a:pPr>
                      <a:r>
                        <a:rPr lang="en" sz="1100"/>
                        <a:t>VEP Consequence + SpliceAI</a:t>
                      </a:r>
                      <a:endParaRPr sz="1100"/>
                    </a:p>
                  </a:txBody>
                  <a:tcPr marT="63500" marB="63500" marR="63500" marL="63500"/>
                </a:tc>
              </a:tr>
              <a:tr h="12700">
                <a:tc>
                  <a:txBody>
                    <a:bodyPr/>
                    <a:lstStyle/>
                    <a:p>
                      <a:pPr indent="0" lvl="0" marL="0" rtl="0" algn="l">
                        <a:spcBef>
                          <a:spcPts val="0"/>
                        </a:spcBef>
                        <a:spcAft>
                          <a:spcPts val="0"/>
                        </a:spcAft>
                        <a:buNone/>
                      </a:pPr>
                      <a:r>
                        <a:rPr lang="en" sz="1100"/>
                        <a:t>pDM (predicted damaging missense)</a:t>
                      </a:r>
                      <a:endParaRPr sz="1100"/>
                    </a:p>
                  </a:txBody>
                  <a:tcPr marT="63500" marB="63500" marR="63500" marL="63500"/>
                </a:tc>
                <a:tc>
                  <a:txBody>
                    <a:bodyPr/>
                    <a:lstStyle/>
                    <a:p>
                      <a:pPr indent="0" lvl="0" marL="0" rtl="0" algn="l">
                        <a:spcBef>
                          <a:spcPts val="0"/>
                        </a:spcBef>
                        <a:spcAft>
                          <a:spcPts val="0"/>
                        </a:spcAft>
                        <a:buNone/>
                      </a:pPr>
                      <a:r>
                        <a:rPr lang="en" sz="1100"/>
                        <a:t>Missense variants classified as </a:t>
                      </a:r>
                      <a:r>
                        <a:rPr i="1" lang="en" sz="1100"/>
                        <a:t>likely_pathogenic</a:t>
                      </a:r>
                      <a:r>
                        <a:rPr lang="en" sz="1100"/>
                        <a:t> by AlphaMissense</a:t>
                      </a:r>
                      <a:endParaRPr sz="1100"/>
                    </a:p>
                  </a:txBody>
                  <a:tcPr marT="63500" marB="63500" marR="63500" marL="63500"/>
                </a:tc>
                <a:tc>
                  <a:txBody>
                    <a:bodyPr/>
                    <a:lstStyle/>
                    <a:p>
                      <a:pPr indent="0" lvl="0" marL="0" rtl="0" algn="l">
                        <a:spcBef>
                          <a:spcPts val="0"/>
                        </a:spcBef>
                        <a:spcAft>
                          <a:spcPts val="0"/>
                        </a:spcAft>
                        <a:buNone/>
                      </a:pPr>
                      <a:r>
                        <a:rPr lang="en" sz="1100"/>
                        <a:t>AlphaMissense</a:t>
                      </a:r>
                      <a:endParaRPr sz="1100"/>
                    </a:p>
                  </a:txBody>
                  <a:tcPr marT="63500" marB="63500" marR="63500" marL="63500"/>
                </a:tc>
              </a:tr>
              <a:tr h="12700">
                <a:tc>
                  <a:txBody>
                    <a:bodyPr/>
                    <a:lstStyle/>
                    <a:p>
                      <a:pPr indent="0" lvl="0" marL="0" rtl="0" algn="l">
                        <a:spcBef>
                          <a:spcPts val="0"/>
                        </a:spcBef>
                        <a:spcAft>
                          <a:spcPts val="0"/>
                        </a:spcAft>
                        <a:buNone/>
                      </a:pPr>
                      <a:r>
                        <a:rPr lang="en" sz="1100"/>
                        <a:t>AMB (ambiguous missense)</a:t>
                      </a:r>
                      <a:endParaRPr sz="1100"/>
                    </a:p>
                  </a:txBody>
                  <a:tcPr marT="63500" marB="63500" marR="63500" marL="63500"/>
                </a:tc>
                <a:tc>
                  <a:txBody>
                    <a:bodyPr/>
                    <a:lstStyle/>
                    <a:p>
                      <a:pPr indent="0" lvl="0" marL="0" rtl="0" algn="l">
                        <a:spcBef>
                          <a:spcPts val="0"/>
                        </a:spcBef>
                        <a:spcAft>
                          <a:spcPts val="0"/>
                        </a:spcAft>
                        <a:buNone/>
                      </a:pPr>
                      <a:r>
                        <a:rPr lang="en" sz="1100"/>
                        <a:t>Missense variants with AlphaMissense 0.34-0.564</a:t>
                      </a:r>
                      <a:endParaRPr sz="1100"/>
                    </a:p>
                  </a:txBody>
                  <a:tcPr marT="63500" marB="63500" marR="63500" marL="63500"/>
                </a:tc>
                <a:tc>
                  <a:txBody>
                    <a:bodyPr/>
                    <a:lstStyle/>
                    <a:p>
                      <a:pPr indent="0" lvl="0" marL="0" rtl="0" algn="l">
                        <a:spcBef>
                          <a:spcPts val="0"/>
                        </a:spcBef>
                        <a:spcAft>
                          <a:spcPts val="0"/>
                        </a:spcAft>
                        <a:buNone/>
                      </a:pPr>
                      <a:r>
                        <a:rPr lang="en" sz="1100"/>
                        <a:t>AlphaMissense</a:t>
                      </a:r>
                      <a:endParaRPr sz="1100"/>
                    </a:p>
                  </a:txBody>
                  <a:tcPr marT="63500" marB="63500" marR="63500" marL="63500"/>
                </a:tc>
              </a:tr>
              <a:tr h="12700">
                <a:tc>
                  <a:txBody>
                    <a:bodyPr/>
                    <a:lstStyle/>
                    <a:p>
                      <a:pPr indent="0" lvl="0" marL="0" rtl="0" algn="l">
                        <a:spcBef>
                          <a:spcPts val="0"/>
                        </a:spcBef>
                        <a:spcAft>
                          <a:spcPts val="0"/>
                        </a:spcAft>
                        <a:buNone/>
                      </a:pPr>
                      <a:r>
                        <a:rPr lang="en" sz="1100"/>
                        <a:t>LB (likely benign missense)</a:t>
                      </a:r>
                      <a:endParaRPr sz="1100"/>
                    </a:p>
                  </a:txBody>
                  <a:tcPr marT="63500" marB="63500" marR="63500" marL="63500"/>
                </a:tc>
                <a:tc>
                  <a:txBody>
                    <a:bodyPr/>
                    <a:lstStyle/>
                    <a:p>
                      <a:pPr indent="0" lvl="0" marL="0" rtl="0" algn="l">
                        <a:spcBef>
                          <a:spcPts val="0"/>
                        </a:spcBef>
                        <a:spcAft>
                          <a:spcPts val="0"/>
                        </a:spcAft>
                        <a:buNone/>
                      </a:pPr>
                      <a:r>
                        <a:rPr lang="en" sz="1100"/>
                        <a:t>Missense variants with AlphaMissense &lt; 0.34</a:t>
                      </a:r>
                      <a:endParaRPr sz="1100"/>
                    </a:p>
                  </a:txBody>
                  <a:tcPr marT="63500" marB="63500" marR="63500" marL="63500"/>
                </a:tc>
                <a:tc>
                  <a:txBody>
                    <a:bodyPr/>
                    <a:lstStyle/>
                    <a:p>
                      <a:pPr indent="0" lvl="0" marL="0" rtl="0" algn="l">
                        <a:spcBef>
                          <a:spcPts val="0"/>
                        </a:spcBef>
                        <a:spcAft>
                          <a:spcPts val="0"/>
                        </a:spcAft>
                        <a:buNone/>
                      </a:pPr>
                      <a:r>
                        <a:rPr lang="en" sz="1100"/>
                        <a:t>AlphaMissense</a:t>
                      </a:r>
                      <a:endParaRPr sz="1100"/>
                    </a:p>
                  </a:txBody>
                  <a:tcPr marT="63500" marB="63500" marR="63500" marL="63500"/>
                </a:tc>
              </a:tr>
              <a:tr h="12700">
                <a:tc>
                  <a:txBody>
                    <a:bodyPr/>
                    <a:lstStyle/>
                    <a:p>
                      <a:pPr indent="0" lvl="0" marL="0" rtl="0" algn="l">
                        <a:spcBef>
                          <a:spcPts val="0"/>
                        </a:spcBef>
                        <a:spcAft>
                          <a:spcPts val="0"/>
                        </a:spcAft>
                        <a:buNone/>
                      </a:pPr>
                      <a:r>
                        <a:rPr lang="en" sz="1100"/>
                        <a:t>Other</a:t>
                      </a:r>
                      <a:endParaRPr sz="1100"/>
                    </a:p>
                  </a:txBody>
                  <a:tcPr marT="63500" marB="63500" marR="63500" marL="63500"/>
                </a:tc>
                <a:tc>
                  <a:txBody>
                    <a:bodyPr/>
                    <a:lstStyle/>
                    <a:p>
                      <a:pPr indent="0" lvl="0" marL="0" rtl="0" algn="l">
                        <a:spcBef>
                          <a:spcPts val="0"/>
                        </a:spcBef>
                        <a:spcAft>
                          <a:spcPts val="0"/>
                        </a:spcAft>
                        <a:buNone/>
                      </a:pPr>
                      <a:r>
                        <a:rPr lang="en" sz="1100"/>
                        <a:t>Remaining variants not meeting any of the above criteria</a:t>
                      </a:r>
                      <a:endParaRPr sz="1100"/>
                    </a:p>
                  </a:txBody>
                  <a:tcPr marT="63500" marB="63500" marR="63500" marL="63500"/>
                </a:tc>
                <a:tc>
                  <a:txBody>
                    <a:bodyPr/>
                    <a:lstStyle/>
                    <a:p>
                      <a:pPr indent="0" lvl="0" marL="0" rtl="0" algn="l">
                        <a:spcBef>
                          <a:spcPts val="0"/>
                        </a:spcBef>
                        <a:spcAft>
                          <a:spcPts val="0"/>
                        </a:spcAft>
                        <a:buNone/>
                      </a:pPr>
                      <a:r>
                        <a:rPr lang="en" sz="1100"/>
                        <a:t>VEP Consequence</a:t>
                      </a:r>
                      <a:endParaRPr sz="1100"/>
                    </a:p>
                  </a:txBody>
                  <a:tcPr marT="63500" marB="63500" marR="63500" marL="63500"/>
                </a:tc>
              </a:tr>
              <a:tr h="12700">
                <a:tc>
                  <a:txBody>
                    <a:bodyPr/>
                    <a:lstStyle/>
                    <a:p>
                      <a:pPr indent="0" lvl="0" marL="0" rtl="0" algn="l">
                        <a:spcBef>
                          <a:spcPts val="0"/>
                        </a:spcBef>
                        <a:spcAft>
                          <a:spcPts val="0"/>
                        </a:spcAft>
                        <a:buNone/>
                      </a:pPr>
                      <a:r>
                        <a:rPr lang="en" sz="1100"/>
                        <a:t>Combined (e.g., pLOF ; pDM)</a:t>
                      </a:r>
                      <a:endParaRPr sz="1100"/>
                    </a:p>
                  </a:txBody>
                  <a:tcPr marT="63500" marB="63500" marR="63500" marL="63500"/>
                </a:tc>
                <a:tc>
                  <a:txBody>
                    <a:bodyPr/>
                    <a:lstStyle/>
                    <a:p>
                      <a:pPr indent="0" lvl="0" marL="0" rtl="0" algn="l">
                        <a:spcBef>
                          <a:spcPts val="0"/>
                        </a:spcBef>
                        <a:spcAft>
                          <a:spcPts val="0"/>
                        </a:spcAft>
                        <a:buNone/>
                      </a:pPr>
                      <a:r>
                        <a:rPr lang="en" sz="1100"/>
                        <a:t>Union of categories for joint burden testing</a:t>
                      </a:r>
                      <a:endParaRPr sz="1100"/>
                    </a:p>
                  </a:txBody>
                  <a:tcPr marT="63500" marB="63500" marR="63500" marL="63500"/>
                </a:tc>
                <a:tc>
                  <a:txBody>
                    <a:bodyPr/>
                    <a:lstStyle/>
                    <a:p>
                      <a:pPr indent="0" lvl="0" marL="0" rtl="0" algn="l">
                        <a:spcBef>
                          <a:spcPts val="0"/>
                        </a:spcBef>
                        <a:spcAft>
                          <a:spcPts val="0"/>
                        </a:spcAft>
                        <a:buNone/>
                      </a:pPr>
                      <a:r>
                        <a:rPr lang="en" sz="1100"/>
                        <a:t>-</a:t>
                      </a:r>
                      <a:endParaRPr sz="1100"/>
                    </a:p>
                  </a:txBody>
                  <a:tcPr marT="63500" marB="63500" marR="63500" marL="63500"/>
                </a:tc>
              </a:tr>
            </a:tbl>
          </a:graphicData>
        </a:graphic>
      </p:graphicFrame>
      <p:sp>
        <p:nvSpPr>
          <p:cNvPr id="115" name="Google Shape;115;p20"/>
          <p:cNvSpPr txBox="1"/>
          <p:nvPr/>
        </p:nvSpPr>
        <p:spPr>
          <a:xfrm>
            <a:off x="7508316" y="4825030"/>
            <a:ext cx="2087400" cy="3594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Nikki’s Chart</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QC</a:t>
            </a:r>
            <a:endParaRPr b="1">
              <a:solidFill>
                <a:srgbClr val="FF3866"/>
              </a:solidFill>
              <a:latin typeface="Bitter"/>
              <a:ea typeface="Bitter"/>
              <a:cs typeface="Bitter"/>
              <a:sym typeface="Bitter"/>
            </a:endParaRPr>
          </a:p>
        </p:txBody>
      </p:sp>
      <p:sp>
        <p:nvSpPr>
          <p:cNvPr id="121" name="Google Shape;121;p21"/>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22" name="Google Shape;122;p21"/>
          <p:cNvSpPr/>
          <p:nvPr/>
        </p:nvSpPr>
        <p:spPr>
          <a:xfrm>
            <a:off x="421175" y="1245475"/>
            <a:ext cx="5518200" cy="3330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Compare Missense Classification Methods</a:t>
            </a:r>
            <a:endParaRPr b="1"/>
          </a:p>
          <a:p>
            <a:pPr indent="-298450" lvl="0" marL="457200" rtl="0" algn="l">
              <a:spcBef>
                <a:spcPts val="0"/>
              </a:spcBef>
              <a:spcAft>
                <a:spcPts val="0"/>
              </a:spcAft>
              <a:buClr>
                <a:schemeClr val="dk1"/>
              </a:buClr>
              <a:buSzPts val="1100"/>
              <a:buChar char="●"/>
            </a:pPr>
            <a:r>
              <a:rPr lang="en" sz="1100">
                <a:solidFill>
                  <a:schemeClr val="dk1"/>
                </a:solidFill>
              </a:rPr>
              <a:t>Compare how many missense variants are captured by</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AlphaMissense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REVEL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Determine overlap and differences between the two approaches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Report counts for each annotation category</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List all variants contributing to significant genes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Report:</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Total variants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Number of pLOFs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Number of AlphaMissense variants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Number of REVEL variants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Decide whether to use AlphaMissense or REVEL missense variants</a:t>
            </a:r>
            <a:endParaRPr sz="1100">
              <a:solidFill>
                <a:schemeClr val="dk1"/>
              </a:solidFill>
            </a:endParaRPr>
          </a:p>
          <a:p>
            <a:pPr indent="0" lvl="0" marL="914400" rtl="0" algn="l">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3" name="Google Shape;123;p21"/>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4</a:t>
            </a:r>
            <a:r>
              <a:rPr b="1" lang="en" sz="1700">
                <a:solidFill>
                  <a:schemeClr val="dk1"/>
                </a:solidFill>
              </a:rPr>
              <a:t>.</a:t>
            </a:r>
            <a:endParaRPr b="1" sz="1700">
              <a:solidFill>
                <a:schemeClr val="dk1"/>
              </a:solidFill>
            </a:endParaRPr>
          </a:p>
        </p:txBody>
      </p:sp>
      <p:sp>
        <p:nvSpPr>
          <p:cNvPr id="124" name="Google Shape;124;p21"/>
          <p:cNvSpPr/>
          <p:nvPr/>
        </p:nvSpPr>
        <p:spPr>
          <a:xfrm>
            <a:off x="6401571" y="1245480"/>
            <a:ext cx="2516700" cy="3330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Define Which Variants Will Be Used in the Burden Test</a:t>
            </a:r>
            <a:endParaRPr b="1"/>
          </a:p>
          <a:p>
            <a:pPr indent="0" lvl="0" marL="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Depending on the </a:t>
            </a:r>
            <a:r>
              <a:rPr lang="en" sz="1100">
                <a:solidFill>
                  <a:schemeClr val="dk1"/>
                </a:solidFill>
              </a:rPr>
              <a:t>classification</a:t>
            </a:r>
            <a:r>
              <a:rPr lang="en" sz="1100">
                <a:solidFill>
                  <a:schemeClr val="dk1"/>
                </a:solidFill>
              </a:rPr>
              <a:t> of the missense, choose whether to include the </a:t>
            </a:r>
            <a:r>
              <a:rPr lang="en" sz="1100">
                <a:solidFill>
                  <a:schemeClr val="dk1"/>
                </a:solidFill>
              </a:rPr>
              <a:t>missense</a:t>
            </a:r>
            <a:r>
              <a:rPr lang="en" sz="1100">
                <a:solidFill>
                  <a:schemeClr val="dk1"/>
                </a:solidFill>
              </a:rPr>
              <a:t> variants in the study or whether to just focus on pLOFs</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5" name="Google Shape;125;p21"/>
          <p:cNvSpPr txBox="1"/>
          <p:nvPr/>
        </p:nvSpPr>
        <p:spPr>
          <a:xfrm>
            <a:off x="6058571" y="1057905"/>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5</a:t>
            </a:r>
            <a:r>
              <a:rPr b="1" lang="en" sz="1700">
                <a:solidFill>
                  <a:schemeClr val="dk1"/>
                </a:solidFill>
              </a:rPr>
              <a:t>.</a:t>
            </a:r>
            <a:endParaRPr b="1" sz="17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QC</a:t>
            </a:r>
            <a:endParaRPr b="1">
              <a:solidFill>
                <a:srgbClr val="FF3866"/>
              </a:solidFill>
              <a:latin typeface="Bitter"/>
              <a:ea typeface="Bitter"/>
              <a:cs typeface="Bitter"/>
              <a:sym typeface="Bitter"/>
            </a:endParaRPr>
          </a:p>
        </p:txBody>
      </p:sp>
      <p:sp>
        <p:nvSpPr>
          <p:cNvPr id="131" name="Google Shape;131;p22"/>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32" name="Google Shape;132;p22"/>
          <p:cNvSpPr/>
          <p:nvPr/>
        </p:nvSpPr>
        <p:spPr>
          <a:xfrm>
            <a:off x="421175" y="1245475"/>
            <a:ext cx="3799200" cy="35523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Ensure High Quality Covariates </a:t>
            </a:r>
            <a:endParaRPr b="1"/>
          </a:p>
          <a:p>
            <a:pPr indent="0" lvl="0" marL="0" rtl="0" algn="l">
              <a:lnSpc>
                <a:spcPct val="115000"/>
              </a:lnSpc>
              <a:spcBef>
                <a:spcPts val="0"/>
              </a:spcBef>
              <a:spcAft>
                <a:spcPts val="0"/>
              </a:spcAft>
              <a:buNone/>
            </a:pPr>
            <a:r>
              <a:rPr lang="en" sz="1100">
                <a:solidFill>
                  <a:schemeClr val="dk1"/>
                </a:solidFill>
              </a:rPr>
              <a:t>To ensure high quality of covariates like age, sex, and genetic principal components (PCs), I will investigate them for unexpected values or inconsistencies prior to their incorporation in subsequent SAIGE analysis</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Even though the PMBB team did do a check for these variables, I will still verify to avoid inconsistencies</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Analyze age for missing values or implausible values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Analyze sex for missing coding and agreement with genetic sex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Analyze principal components for completeness </a:t>
            </a:r>
            <a:endParaRPr sz="1100">
              <a:solidFill>
                <a:schemeClr val="dk1"/>
              </a:solidFill>
            </a:endParaRPr>
          </a:p>
          <a:p>
            <a:pPr indent="0" lvl="0" marL="0" rtl="0" algn="l">
              <a:spcBef>
                <a:spcPts val="0"/>
              </a:spcBef>
              <a:spcAft>
                <a:spcPts val="0"/>
              </a:spcAft>
              <a:buNone/>
            </a:pPr>
            <a:r>
              <a:t/>
            </a:r>
            <a:endParaRPr/>
          </a:p>
        </p:txBody>
      </p:sp>
      <p:sp>
        <p:nvSpPr>
          <p:cNvPr id="133" name="Google Shape;133;p22"/>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6</a:t>
            </a:r>
            <a:r>
              <a:rPr b="1" lang="en" sz="1700">
                <a:solidFill>
                  <a:schemeClr val="dk1"/>
                </a:solidFill>
              </a:rPr>
              <a:t>.</a:t>
            </a:r>
            <a:endParaRPr b="1" sz="1700">
              <a:solidFill>
                <a:schemeClr val="dk1"/>
              </a:solidFill>
            </a:endParaRPr>
          </a:p>
        </p:txBody>
      </p:sp>
      <p:sp>
        <p:nvSpPr>
          <p:cNvPr id="134" name="Google Shape;134;p22"/>
          <p:cNvSpPr/>
          <p:nvPr/>
        </p:nvSpPr>
        <p:spPr>
          <a:xfrm>
            <a:off x="4915000" y="1245473"/>
            <a:ext cx="3799200" cy="24336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Check If Sufficient Cases vs Controls </a:t>
            </a:r>
            <a:endParaRPr b="1"/>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Review hearing loss phenotype frequencies and confirm that there are enough cases and controls for the analysis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Obtain and report case/control counts for each phenotype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If there are enough cases, I will generate separate case/control counts for EUR and AFR cohorts as well.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When samples are removed due to missing phenotype information, report how many are dropped and tell Nikki</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sp>
        <p:nvSpPr>
          <p:cNvPr id="135" name="Google Shape;135;p22"/>
          <p:cNvSpPr txBox="1"/>
          <p:nvPr/>
        </p:nvSpPr>
        <p:spPr>
          <a:xfrm>
            <a:off x="4572000" y="1057893"/>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7</a:t>
            </a:r>
            <a:r>
              <a:rPr b="1" lang="en" sz="1700">
                <a:solidFill>
                  <a:schemeClr val="dk1"/>
                </a:solidFill>
              </a:rPr>
              <a:t>.</a:t>
            </a:r>
            <a:endParaRPr b="1" sz="1700">
              <a:solidFill>
                <a:schemeClr val="dk1"/>
              </a:solidFill>
            </a:endParaRPr>
          </a:p>
        </p:txBody>
      </p:sp>
      <p:sp>
        <p:nvSpPr>
          <p:cNvPr id="136" name="Google Shape;136;p22"/>
          <p:cNvSpPr/>
          <p:nvPr/>
        </p:nvSpPr>
        <p:spPr>
          <a:xfrm>
            <a:off x="4922781" y="4045041"/>
            <a:ext cx="3799200" cy="7527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Check Gene Carrier Threshold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Verify that the genes meet the minimum carrier thresholds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sp>
        <p:nvSpPr>
          <p:cNvPr id="137" name="Google Shape;137;p22"/>
          <p:cNvSpPr txBox="1"/>
          <p:nvPr/>
        </p:nvSpPr>
        <p:spPr>
          <a:xfrm>
            <a:off x="4579781" y="3857461"/>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8</a:t>
            </a:r>
            <a:r>
              <a:rPr b="1" lang="en" sz="1700">
                <a:solidFill>
                  <a:schemeClr val="dk1"/>
                </a:solidFill>
              </a:rPr>
              <a:t>.</a:t>
            </a:r>
            <a:endParaRPr b="1"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Analysis </a:t>
            </a:r>
            <a:endParaRPr b="1">
              <a:solidFill>
                <a:srgbClr val="FF3866"/>
              </a:solidFill>
              <a:latin typeface="Bitter"/>
              <a:ea typeface="Bitter"/>
              <a:cs typeface="Bitter"/>
              <a:sym typeface="Bitter"/>
            </a:endParaRPr>
          </a:p>
        </p:txBody>
      </p:sp>
      <p:sp>
        <p:nvSpPr>
          <p:cNvPr id="143" name="Google Shape;143;p23"/>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44" name="Google Shape;144;p23"/>
          <p:cNvSpPr/>
          <p:nvPr/>
        </p:nvSpPr>
        <p:spPr>
          <a:xfrm>
            <a:off x="421175" y="1245475"/>
            <a:ext cx="8411100" cy="32250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SAIGE-GENE: Step 1, Create Null Model</a:t>
            </a:r>
            <a:endParaRPr b="1"/>
          </a:p>
          <a:p>
            <a:pPr indent="0" lvl="0" marL="0" rtl="0" algn="l">
              <a:spcBef>
                <a:spcPts val="0"/>
              </a:spcBef>
              <a:spcAft>
                <a:spcPts val="0"/>
              </a:spcAft>
              <a:buNone/>
            </a:pPr>
            <a:r>
              <a:rPr lang="en" sz="1100">
                <a:solidFill>
                  <a:schemeClr val="dk1"/>
                </a:solidFill>
              </a:rPr>
              <a:t>This step creates a model that tests what explains the phenotype WITHOUT looking at specific variants.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 call-rate thresholds shown in Nikki's reference figure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 pre-calculated PCs</a:t>
            </a:r>
            <a:endParaRPr sz="1100">
              <a:solidFill>
                <a:schemeClr val="dk1"/>
              </a:solidFill>
            </a:endParaRPr>
          </a:p>
          <a:p>
            <a:pPr indent="-298450" lvl="1" marL="914400" rtl="0" algn="l">
              <a:spcBef>
                <a:spcPts val="0"/>
              </a:spcBef>
              <a:spcAft>
                <a:spcPts val="0"/>
              </a:spcAft>
              <a:buClr>
                <a:schemeClr val="dk1"/>
              </a:buClr>
              <a:buSzPts val="1100"/>
              <a:buChar char="○"/>
            </a:pPr>
            <a:r>
              <a:rPr lang="en" sz="1050">
                <a:solidFill>
                  <a:schemeClr val="dk1"/>
                </a:solidFill>
              </a:rPr>
              <a:t>Use the PCs that are calculated for the population being using. </a:t>
            </a:r>
            <a:endParaRPr sz="1050">
              <a:solidFill>
                <a:schemeClr val="dk1"/>
              </a:solidFill>
            </a:endParaRPr>
          </a:p>
          <a:p>
            <a:pPr indent="-298450" lvl="2" marL="1371600" rtl="0" algn="l">
              <a:spcBef>
                <a:spcPts val="0"/>
              </a:spcBef>
              <a:spcAft>
                <a:spcPts val="0"/>
              </a:spcAft>
              <a:buClr>
                <a:schemeClr val="dk1"/>
              </a:buClr>
              <a:buSzPts val="1100"/>
              <a:buChar char="■"/>
            </a:pPr>
            <a:r>
              <a:rPr lang="en" sz="1050">
                <a:solidFill>
                  <a:schemeClr val="dk1"/>
                </a:solidFill>
              </a:rPr>
              <a:t>If  using EUR and AFR combined, the PCs need to have been calculated with these populations</a:t>
            </a:r>
            <a:endParaRPr sz="1050">
              <a:solidFill>
                <a:schemeClr val="dk1"/>
              </a:solidFill>
            </a:endParaRPr>
          </a:p>
          <a:p>
            <a:pPr indent="-298450" lvl="2" marL="1371600" rtl="0" algn="l">
              <a:spcBef>
                <a:spcPts val="0"/>
              </a:spcBef>
              <a:spcAft>
                <a:spcPts val="0"/>
              </a:spcAft>
              <a:buClr>
                <a:schemeClr val="dk1"/>
              </a:buClr>
              <a:buSzPts val="1100"/>
              <a:buChar char="■"/>
            </a:pPr>
            <a:r>
              <a:rPr lang="en" sz="1050">
                <a:solidFill>
                  <a:schemeClr val="dk1"/>
                </a:solidFill>
              </a:rPr>
              <a:t>If stratified, use EUR PCs for EUR and AFR PCs for AFR</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 will use a</a:t>
            </a:r>
            <a:r>
              <a:rPr lang="en" sz="1050">
                <a:solidFill>
                  <a:schemeClr val="dk1"/>
                </a:solidFill>
                <a:highlight>
                  <a:srgbClr val="FFFFFF"/>
                </a:highlight>
              </a:rPr>
              <a:t> variance explained plot to determine how many PCs should be used as covariates</a:t>
            </a:r>
            <a:r>
              <a:rPr lang="en" sz="1100">
                <a:solidFill>
                  <a:schemeClr val="dk1"/>
                </a:solidFill>
              </a:rPr>
              <a:t> → this number will most likely be 4 or 5</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The PMBB SAIGE pipeline (the one on the PMBB github) keeps only 4 PCs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Perform LD Pruning (Linkag</a:t>
            </a:r>
            <a:r>
              <a:rPr lang="en" sz="1100">
                <a:solidFill>
                  <a:schemeClr val="dk1"/>
                </a:solidFill>
              </a:rPr>
              <a:t>e Disequilibrium Pruning) </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Check with Nikki if this is a necessary step (if using prior PCs, this may not be needed)</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ld_window  = 1080</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ld_r2 = 0.3</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Verify all pruning parameters with Nikki</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sp>
        <p:nvSpPr>
          <p:cNvPr id="145" name="Google Shape;145;p23"/>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1</a:t>
            </a:r>
            <a:r>
              <a:rPr b="1" lang="en" sz="1700">
                <a:solidFill>
                  <a:schemeClr val="dk1"/>
                </a:solidFill>
              </a:rPr>
              <a:t>.</a:t>
            </a:r>
            <a:endParaRPr b="1"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Analysis </a:t>
            </a:r>
            <a:endParaRPr b="1">
              <a:solidFill>
                <a:srgbClr val="FF3866"/>
              </a:solidFill>
              <a:latin typeface="Bitter"/>
              <a:ea typeface="Bitter"/>
              <a:cs typeface="Bitter"/>
              <a:sym typeface="Bitter"/>
            </a:endParaRPr>
          </a:p>
        </p:txBody>
      </p:sp>
      <p:sp>
        <p:nvSpPr>
          <p:cNvPr id="151" name="Google Shape;151;p24"/>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
        <p:nvSpPr>
          <p:cNvPr id="152" name="Google Shape;152;p24"/>
          <p:cNvSpPr/>
          <p:nvPr/>
        </p:nvSpPr>
        <p:spPr>
          <a:xfrm>
            <a:off x="421175" y="1245475"/>
            <a:ext cx="8411100" cy="3716100"/>
          </a:xfrm>
          <a:prstGeom prst="rect">
            <a:avLst/>
          </a:prstGeom>
          <a:solidFill>
            <a:schemeClr val="lt1"/>
          </a:solidFill>
          <a:ln cap="flat" cmpd="sng" w="76200">
            <a:solidFill>
              <a:srgbClr val="FF38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SAIGE-GENE: Step 2, Test Rare Variant Gene Burden Test</a:t>
            </a:r>
            <a:endParaRPr b="1">
              <a:solidFill>
                <a:schemeClr val="dk1"/>
              </a:solidFill>
            </a:endParaRPr>
          </a:p>
          <a:p>
            <a:pPr indent="0" lvl="0" marL="0" rtl="0" algn="l">
              <a:spcBef>
                <a:spcPts val="0"/>
              </a:spcBef>
              <a:spcAft>
                <a:spcPts val="0"/>
              </a:spcAft>
              <a:buNone/>
            </a:pPr>
            <a:r>
              <a:rPr lang="en" sz="1100">
                <a:solidFill>
                  <a:schemeClr val="dk1"/>
                </a:solidFill>
              </a:rPr>
              <a:t>Given the null model, this steps tests whether variants in a gene explains additional variation.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Variants are grouped based on what gene they affect → this information is put into the group file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 these Inputs:</a:t>
            </a:r>
            <a:endParaRPr sz="1100">
              <a:solidFill>
                <a:schemeClr val="dk1"/>
              </a:solidFill>
            </a:endParaRPr>
          </a:p>
          <a:p>
            <a:pPr indent="-285750" lvl="0" marL="914400" rtl="0" algn="l">
              <a:spcBef>
                <a:spcPts val="0"/>
              </a:spcBef>
              <a:spcAft>
                <a:spcPts val="0"/>
              </a:spcAft>
              <a:buClr>
                <a:schemeClr val="dk1"/>
              </a:buClr>
              <a:buSzPts val="900"/>
              <a:buChar char="●"/>
            </a:pPr>
            <a:r>
              <a:rPr lang="en" sz="900">
                <a:solidFill>
                  <a:schemeClr val="dk1"/>
                </a:solidFill>
              </a:rPr>
              <a:t>Model file </a:t>
            </a:r>
            <a:endParaRPr sz="900">
              <a:solidFill>
                <a:schemeClr val="dk1"/>
              </a:solidFill>
            </a:endParaRPr>
          </a:p>
          <a:p>
            <a:pPr indent="-285750" lvl="1" marL="1371600" rtl="0" algn="l">
              <a:spcBef>
                <a:spcPts val="0"/>
              </a:spcBef>
              <a:spcAft>
                <a:spcPts val="0"/>
              </a:spcAft>
              <a:buClr>
                <a:schemeClr val="dk1"/>
              </a:buClr>
              <a:buSzPts val="900"/>
              <a:buChar char="○"/>
            </a:pPr>
            <a:r>
              <a:rPr lang="en" sz="900">
                <a:solidFill>
                  <a:schemeClr val="dk1"/>
                </a:solidFill>
              </a:rPr>
              <a:t>the fitted null model (all parameters from Step 1)</a:t>
            </a:r>
            <a:endParaRPr sz="900">
              <a:solidFill>
                <a:schemeClr val="dk1"/>
              </a:solidFill>
            </a:endParaRPr>
          </a:p>
          <a:p>
            <a:pPr indent="-285750" lvl="0" marL="914400" rtl="0" algn="l">
              <a:spcBef>
                <a:spcPts val="0"/>
              </a:spcBef>
              <a:spcAft>
                <a:spcPts val="0"/>
              </a:spcAft>
              <a:buClr>
                <a:schemeClr val="dk1"/>
              </a:buClr>
              <a:buSzPts val="900"/>
              <a:buChar char="●"/>
            </a:pPr>
            <a:r>
              <a:rPr lang="en" sz="900">
                <a:solidFill>
                  <a:schemeClr val="dk1"/>
                </a:solidFill>
              </a:rPr>
              <a:t>Genotype/dosage file</a:t>
            </a:r>
            <a:endParaRPr sz="900">
              <a:solidFill>
                <a:schemeClr val="dk1"/>
              </a:solidFill>
            </a:endParaRPr>
          </a:p>
          <a:p>
            <a:pPr indent="-285750" lvl="1" marL="1371600" rtl="0" algn="l">
              <a:spcBef>
                <a:spcPts val="0"/>
              </a:spcBef>
              <a:spcAft>
                <a:spcPts val="0"/>
              </a:spcAft>
              <a:buClr>
                <a:schemeClr val="dk1"/>
              </a:buClr>
              <a:buSzPts val="900"/>
              <a:buChar char="○"/>
            </a:pPr>
            <a:r>
              <a:rPr lang="en" sz="900">
                <a:solidFill>
                  <a:schemeClr val="dk1"/>
                </a:solidFill>
              </a:rPr>
              <a:t>the actual variant data you want to test. </a:t>
            </a:r>
            <a:endParaRPr sz="900">
              <a:solidFill>
                <a:schemeClr val="dk1"/>
              </a:solidFill>
            </a:endParaRPr>
          </a:p>
          <a:p>
            <a:pPr indent="-285750" lvl="1" marL="1371600" rtl="0" algn="l">
              <a:spcBef>
                <a:spcPts val="0"/>
              </a:spcBef>
              <a:spcAft>
                <a:spcPts val="0"/>
              </a:spcAft>
              <a:buClr>
                <a:schemeClr val="dk1"/>
              </a:buClr>
              <a:buSzPts val="900"/>
              <a:buChar char="○"/>
            </a:pPr>
            <a:r>
              <a:rPr lang="en" sz="900">
                <a:solidFill>
                  <a:schemeClr val="dk1"/>
                </a:solidFill>
              </a:rPr>
              <a:t>Formats: PLINK (.bed/.bim/.fam), BGEN (used by UK Biobank), VCF, or BCF.</a:t>
            </a:r>
            <a:endParaRPr sz="900">
              <a:solidFill>
                <a:schemeClr val="dk1"/>
              </a:solidFill>
            </a:endParaRPr>
          </a:p>
          <a:p>
            <a:pPr indent="-285750" lvl="0" marL="914400" rtl="0" algn="l">
              <a:spcBef>
                <a:spcPts val="0"/>
              </a:spcBef>
              <a:spcAft>
                <a:spcPts val="0"/>
              </a:spcAft>
              <a:buClr>
                <a:schemeClr val="dk1"/>
              </a:buClr>
              <a:buSzPts val="900"/>
              <a:buChar char="●"/>
            </a:pPr>
            <a:r>
              <a:rPr lang="en" sz="900">
                <a:solidFill>
                  <a:schemeClr val="dk1"/>
                </a:solidFill>
              </a:rPr>
              <a:t>Group file </a:t>
            </a:r>
            <a:endParaRPr i="1" sz="900">
              <a:solidFill>
                <a:schemeClr val="dk1"/>
              </a:solidFill>
            </a:endParaRPr>
          </a:p>
          <a:p>
            <a:pPr indent="-285750" lvl="1" marL="1371600" rtl="0" algn="l">
              <a:spcBef>
                <a:spcPts val="0"/>
              </a:spcBef>
              <a:spcAft>
                <a:spcPts val="0"/>
              </a:spcAft>
              <a:buClr>
                <a:schemeClr val="dk1"/>
              </a:buClr>
              <a:buSzPts val="900"/>
              <a:buChar char="○"/>
            </a:pPr>
            <a:r>
              <a:rPr lang="en" sz="900">
                <a:solidFill>
                  <a:schemeClr val="dk1"/>
                </a:solidFill>
              </a:rPr>
              <a:t>a file that defines </a:t>
            </a:r>
            <a:r>
              <a:rPr i="1" lang="en" sz="900">
                <a:solidFill>
                  <a:schemeClr val="dk1"/>
                </a:solidFill>
              </a:rPr>
              <a:t>sets</a:t>
            </a:r>
            <a:r>
              <a:rPr lang="en" sz="900">
                <a:solidFill>
                  <a:schemeClr val="dk1"/>
                </a:solidFill>
              </a:rPr>
              <a:t> of variants, typically grouped by gene or genomic region, along with annotation labels (e.g. loss-of-function, missense) and user-defined weights per variant.</a:t>
            </a:r>
            <a:endParaRPr sz="9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SKAT (Sequence Kernel Association Test)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 variance component test that allows variants in the same gene to have different directions and sizes.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More flexible but less powerful when effects are truly unidirectional.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Repeat with different masks to define subsets of variants within a gene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MAF thresholds of 0.0001, 0.001, and 0.01</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Examine the differences in burden between cases and controls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Evaluate the carrier counts for ZNF175 and other genes of interest</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Should I consider all genes or just an adjudicated list of hearing loss genes?</a:t>
            </a:r>
            <a:endParaRPr sz="1100">
              <a:solidFill>
                <a:schemeClr val="dk1"/>
              </a:solidFill>
            </a:endParaRPr>
          </a:p>
          <a:p>
            <a:pPr indent="0" lvl="0" marL="9144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solidFill>
                <a:schemeClr val="dk1"/>
              </a:solidFill>
            </a:endParaRPr>
          </a:p>
          <a:p>
            <a:pPr indent="0" lvl="0" marL="1371600" rtl="0" algn="l">
              <a:spcBef>
                <a:spcPts val="0"/>
              </a:spcBef>
              <a:spcAft>
                <a:spcPts val="0"/>
              </a:spcAft>
              <a:buNone/>
            </a:pPr>
            <a:r>
              <a:t/>
            </a:r>
            <a:endParaRPr b="1"/>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sp>
        <p:nvSpPr>
          <p:cNvPr id="153" name="Google Shape;153;p24"/>
          <p:cNvSpPr txBox="1"/>
          <p:nvPr/>
        </p:nvSpPr>
        <p:spPr>
          <a:xfrm>
            <a:off x="78175" y="1057900"/>
            <a:ext cx="385200" cy="422100"/>
          </a:xfrm>
          <a:prstGeom prst="rect">
            <a:avLst/>
          </a:prstGeom>
          <a:solidFill>
            <a:srgbClr val="F4E00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2.</a:t>
            </a:r>
            <a:endParaRPr b="1" sz="17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Planned Interpretation and Visualization of Results </a:t>
            </a:r>
            <a:endParaRPr b="1">
              <a:solidFill>
                <a:srgbClr val="FF3866"/>
              </a:solidFill>
              <a:latin typeface="Bitter"/>
              <a:ea typeface="Bitter"/>
              <a:cs typeface="Bitter"/>
              <a:sym typeface="Bitter"/>
            </a:endParaRPr>
          </a:p>
        </p:txBody>
      </p:sp>
      <p:sp>
        <p:nvSpPr>
          <p:cNvPr id="159" name="Google Shape;159;p25"/>
          <p:cNvSpPr txBox="1"/>
          <p:nvPr>
            <p:ph idx="1" type="body"/>
          </p:nvPr>
        </p:nvSpPr>
        <p:spPr>
          <a:xfrm>
            <a:off x="311700" y="1151675"/>
            <a:ext cx="8520600" cy="3720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I will evaluate statistical significance using p values generated from the PMBB v4 analysis.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Use Bonferroni significance: alpha (0.05)/# of tests)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 will compare my results against published findings and results from analyses of previous PMBB releases. </a:t>
            </a:r>
            <a:endParaRPr sz="8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0"/>
              </a:spcBef>
              <a:spcAft>
                <a:spcPts val="0"/>
              </a:spcAft>
              <a:buNone/>
            </a:pPr>
            <a:r>
              <a:rPr b="1" lang="en" sz="1500">
                <a:solidFill>
                  <a:schemeClr val="dk1"/>
                </a:solidFill>
              </a:rPr>
              <a:t>VIsualization </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QQ Plots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Checks for systemic bias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Modified Manhattan Plots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Looks at genes on x axis rather than just individual variants </a:t>
            </a:r>
            <a:endParaRPr sz="1500">
              <a:solidFill>
                <a:schemeClr val="dk1"/>
              </a:solidFill>
            </a:endParaRPr>
          </a:p>
          <a:p>
            <a:pPr indent="0" lvl="0" marL="457200" rtl="0" algn="l">
              <a:spcBef>
                <a:spcPts val="0"/>
              </a:spcBef>
              <a:spcAft>
                <a:spcPts val="0"/>
              </a:spcAft>
              <a:buNone/>
            </a:pPr>
            <a:r>
              <a:t/>
            </a:r>
            <a:endParaRPr sz="1500">
              <a:solidFill>
                <a:schemeClr val="dk1"/>
              </a:solidFill>
            </a:endParaRPr>
          </a:p>
        </p:txBody>
      </p:sp>
      <p:sp>
        <p:nvSpPr>
          <p:cNvPr id="160" name="Google Shape;160;p25"/>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311700" y="273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3866"/>
                </a:solidFill>
                <a:latin typeface="Bitter"/>
                <a:ea typeface="Bitter"/>
                <a:cs typeface="Bitter"/>
                <a:sym typeface="Bitter"/>
              </a:rPr>
              <a:t>Possible Other Directions</a:t>
            </a:r>
            <a:endParaRPr b="1">
              <a:solidFill>
                <a:srgbClr val="FF3866"/>
              </a:solidFill>
              <a:latin typeface="Bitter"/>
              <a:ea typeface="Bitter"/>
              <a:cs typeface="Bitter"/>
              <a:sym typeface="Bitter"/>
            </a:endParaRPr>
          </a:p>
        </p:txBody>
      </p:sp>
      <p:sp>
        <p:nvSpPr>
          <p:cNvPr id="166" name="Google Shape;166;p26"/>
          <p:cNvSpPr txBox="1"/>
          <p:nvPr>
            <p:ph idx="1" type="body"/>
          </p:nvPr>
        </p:nvSpPr>
        <p:spPr>
          <a:xfrm>
            <a:off x="311700" y="1061754"/>
            <a:ext cx="8520600" cy="38778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chemeClr val="dk1"/>
              </a:buClr>
              <a:buSzPts val="1100"/>
              <a:buChar char="●"/>
            </a:pPr>
            <a:r>
              <a:rPr lang="en" sz="1100">
                <a:solidFill>
                  <a:schemeClr val="dk1"/>
                </a:solidFill>
              </a:rPr>
              <a:t>Considering the Digenic Model</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See what samples have pLOF variants in ZNF175 but DON’t have the phenotype of hearing loss or tinnitus → then see what other genes have pLOF  variants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This can help elucidate the mechanistic pathway</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Considering</a:t>
            </a:r>
            <a:r>
              <a:rPr lang="en" sz="1100">
                <a:solidFill>
                  <a:schemeClr val="dk1"/>
                </a:solidFill>
              </a:rPr>
              <a:t> the Immune Role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ZNF175 seems to play a role in HIV stuff</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“ZNF175 expression is heavily upregulated in brain macrophages and microglia during neuroinflammatory events (like HIV encephalitis)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Could this be correlated with HL (considering that immune cells DO play a role in preventing further HL)?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Considering gene x environment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This is difficult to do</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Maybe instead of environment, we could consider other inflammation in the body (what other phenotypes the patient came in with)</a:t>
            </a:r>
            <a:endParaRPr sz="1100">
              <a:solidFill>
                <a:schemeClr val="dk1"/>
              </a:solidFill>
            </a:endParaRPr>
          </a:p>
        </p:txBody>
      </p:sp>
      <p:sp>
        <p:nvSpPr>
          <p:cNvPr id="167" name="Google Shape;167;p26"/>
          <p:cNvSpPr/>
          <p:nvPr/>
        </p:nvSpPr>
        <p:spPr>
          <a:xfrm>
            <a:off x="311700" y="845750"/>
            <a:ext cx="8520600" cy="84900"/>
          </a:xfrm>
          <a:prstGeom prst="rect">
            <a:avLst/>
          </a:prstGeom>
          <a:solidFill>
            <a:srgbClr val="F4E003"/>
          </a:solidFill>
          <a:ln cap="flat" cmpd="sng" w="9525">
            <a:solidFill>
              <a:srgbClr val="F4E0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4E003"/>
              </a:solidFill>
            </a:endParaRPr>
          </a:p>
        </p:txBody>
      </p:sp>
      <p:pic>
        <p:nvPicPr>
          <p:cNvPr id="168" name="Google Shape;168;p26"/>
          <p:cNvPicPr preferRelativeResize="0"/>
          <p:nvPr/>
        </p:nvPicPr>
        <p:blipFill>
          <a:blip r:embed="rId3">
            <a:alphaModFix/>
          </a:blip>
          <a:stretch>
            <a:fillRect/>
          </a:stretch>
        </p:blipFill>
        <p:spPr>
          <a:xfrm>
            <a:off x="4572000" y="1620325"/>
            <a:ext cx="2735600" cy="1648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4" name="Google Shape;17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Is it incorrect to say that the signal decays? (Andre analysis)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What phenotypes should I include? (tinnitus, HL, only audiograms or only phecodes?)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Check with Nikki if LD pruning is a necessary step (if using prior PCs, this may not be needed) (because it is done before PCA normally)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Should I consider burden on all genes or just an adjudicated list of hearing loss genes?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What is Bonferroni significance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rgbClr val="FF3866"/>
                </a:solidFill>
              </a:rPr>
              <a:t>Question: </a:t>
            </a:r>
            <a:r>
              <a:rPr lang="en" sz="1100">
                <a:solidFill>
                  <a:schemeClr val="dk1"/>
                </a:solidFill>
              </a:rPr>
              <a:t>Title for poster lol </a:t>
            </a:r>
            <a:endParaRPr sz="1100">
              <a:solidFill>
                <a:schemeClr val="dk1"/>
              </a:solidFill>
            </a:endParaRPr>
          </a:p>
          <a:p>
            <a:pPr indent="0" lvl="0" marL="0" rtl="0" algn="l">
              <a:lnSpc>
                <a:spcPct val="115000"/>
              </a:lnSpc>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
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5.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Lst>
  <p:sldSz cy="5143500" cx="9144000"/>
  <p:notesSz cx="6858000" cy="9144000"/>
  <p:embeddedFontLst>
    <p:embeddedFont>
      <p:font typeface="Raleway"/>
      <p:regular r:id="rId20"/>
      <p:bold r:id="rId21"/>
      <p:italic r:id="rId22"/>
      <p:boldItalic r:id="rId23"/>
    </p:embeddedFont>
    <p:embeddedFont>
      <p:font typeface="Roboto"/>
      <p:regular r:id="rId24"/>
      <p:bold r:id="rId25"/>
      <p:italic r:id="rId26"/>
      <p:boldItalic r:id="rId27"/>
    </p:embeddedFont>
    <p:embeddedFont>
      <p:font typeface="Poppins"/>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8" name="Nikki Palmiero"/>
  <p:cmAuthor clrIdx="1" id="1" initials="" lastIdx="1" name="Elena Sretenović"/>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FEEB983-ABB0-4D2F-B1C9-87526AB2DE86}">
  <a:tblStyle styleId="{AFEEB983-ABB0-4D2F-B1C9-87526AB2DE8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Raleway-regular.fntdata"/><Relationship Id="rId22" Type="http://schemas.openxmlformats.org/officeDocument/2006/relationships/font" Target="fonts/Raleway-italic.fntdata"/><Relationship Id="rId21" Type="http://schemas.openxmlformats.org/officeDocument/2006/relationships/font" Target="fonts/Raleway-bold.fntdata"/><Relationship Id="rId24" Type="http://schemas.openxmlformats.org/officeDocument/2006/relationships/font" Target="fonts/Roboto-regular.fntdata"/><Relationship Id="rId23" Type="http://schemas.openxmlformats.org/officeDocument/2006/relationships/font" Target="fonts/Raleway-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Roboto-italic.fntdata"/><Relationship Id="rId25" Type="http://schemas.openxmlformats.org/officeDocument/2006/relationships/font" Target="fonts/Roboto-bold.fntdata"/><Relationship Id="rId28" Type="http://schemas.openxmlformats.org/officeDocument/2006/relationships/font" Target="fonts/Poppins-regular.fntdata"/><Relationship Id="rId27" Type="http://schemas.openxmlformats.org/officeDocument/2006/relationships/font" Target="fonts/Roboto-boldItalic.fntdata"/><Relationship Id="rId5" Type="http://schemas.openxmlformats.org/officeDocument/2006/relationships/commentAuthors" Target="commentAuthors.xml"/><Relationship Id="rId6" Type="http://schemas.openxmlformats.org/officeDocument/2006/relationships/slideMaster" Target="slideMasters/slideMaster1.xml"/><Relationship Id="rId29" Type="http://schemas.openxmlformats.org/officeDocument/2006/relationships/font" Target="fonts/Poppins-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Poppins-boldItalic.fntdata"/><Relationship Id="rId30" Type="http://schemas.openxmlformats.org/officeDocument/2006/relationships/font" Target="fonts/Poppins-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8-04T17:38:11.693">
    <p:pos x="190" y="596"/>
    <p:text>If anyone asks it may be good to have on hand what codes were used for HL and and Tinnitus. I'd just keep them in your notes if anyone asks about the breakdown of them.</p:text>
  </p:cm>
  <p:cm authorId="0" idx="2" dt="2026-08-04T17:39:25.970">
    <p:pos x="1357" y="3125"/>
    <p:text>Same here have on hand your cases and control counts since you might get questions about sample size</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8-04T17:41:08.353">
    <p:pos x="172" y="704"/>
    <p:text>Add to these β = XXX so they know it's the beta value. And keep on hand the MAC case control counts.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8-04T17:41:08.353">
    <p:pos x="172" y="704"/>
    <p:text>Add to these β = XXX so they know it's the beta value. And keep on hand the MAC case control counts.</p:text>
  </p:cm>
  <p:cm authorId="0" idx="5" dt="2026-08-04T17:41:31.801">
    <p:pos x="172" y="804"/>
    <p:text>Same comment as from the previous slide</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6" dt="2026-08-04T17:42:51.981">
    <p:pos x="196" y="751"/>
    <p:text>5e-8 is for the ExWAS. Just make apparent that rare variant burden is based on the number of genes tested and then adjusted for since it's not single variant analysis.</p:text>
  </p:cm>
  <p:cm authorId="0" idx="7" dt="2026-08-04T17:45:16.046">
    <p:pos x="232" y="1903"/>
    <p:text>Yes this is true and you can add that because it's common variant we figured this would be the case. You don't have to write it in but with Alpha Missnese and and REVEL scores we mostly find pathogenic variants with rarer variants</p:text>
  </p:cm>
</p:cmLst>
</file>

<file path=ppt/comments/comment5.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8" dt="2026-08-04T17:46:42.833">
    <p:pos x="151" y="146"/>
    <p:text>Great work! :D</p:text>
  </p:cm>
  <p:cm authorId="1" idx="1" dt="2026-08-04T17:46:42.833">
    <p:pos x="151" y="146"/>
    <p:text>Thank you!!</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3f5fd09cda9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3f5fd09cda9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3f5fd09cda9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3f5fd09cda9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f5fd09cda9_0_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f5fd09cda9_0_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f5fd09cda9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f5fd09cda9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f5fd09cda9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f5fd09cda9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f5fd09cda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f5fd09cda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f5fd09cda9_0_1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f5fd09cda9_0_1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g3f6459e6edd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2" name="Google Shape;172;g3f6459e6edd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f623fece9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f623fece9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3f5fd09cda9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3f5fd09cda9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301335" lvl="0" marL="374072" rtl="0" algn="l">
              <a:spcBef>
                <a:spcPts val="0"/>
              </a:spcBef>
              <a:spcAft>
                <a:spcPts val="0"/>
              </a:spcAft>
              <a:buClr>
                <a:schemeClr val="dk1"/>
              </a:buClr>
              <a:buSzPts val="1800"/>
              <a:buChar char="●"/>
            </a:pPr>
            <a:r>
              <a:rPr lang="en" sz="1800">
                <a:solidFill>
                  <a:schemeClr val="dk1"/>
                </a:solidFill>
              </a:rPr>
              <a:t>Validate the prioritized candidate variants and top genes in independent biobank cohorts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f5fd09cda9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f5fd09cda9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8.png"/><Relationship Id="rId5" Type="http://schemas.openxmlformats.org/officeDocument/2006/relationships/image" Target="../media/image11.png"/><Relationship Id="rId6"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comments" Target="../comments/commen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0.png"/><Relationship Id="rId5" Type="http://schemas.openxmlformats.org/officeDocument/2006/relationships/image" Target="../media/image15.png"/><Relationship Id="rId6" Type="http://schemas.openxmlformats.org/officeDocument/2006/relationships/image" Target="../media/image7.png"/><Relationship Id="rId7" Type="http://schemas.openxmlformats.org/officeDocument/2006/relationships/image" Target="../media/image13.png"/><Relationship Id="rId8"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comments" Target="../comments/commen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comments" Target="../comments/commen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comments" Target="../comments/commen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comments" Target="../comments/comment5.xml"/><Relationship Id="rId4" Type="http://schemas.openxmlformats.org/officeDocument/2006/relationships/image" Target="../media/image4.jpg"/><Relationship Id="rId5" Type="http://schemas.openxmlformats.org/officeDocument/2006/relationships/image" Target="../media/image1.png"/><Relationship Id="rId6" Type="http://schemas.openxmlformats.org/officeDocument/2006/relationships/image" Target="../media/image16.png"/><Relationship Id="rId7" Type="http://schemas.openxmlformats.org/officeDocument/2006/relationships/image" Target="../media/image8.png"/><Relationship Id="rId8"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gradFill>
          <a:gsLst>
            <a:gs pos="0">
              <a:srgbClr val="CD0568"/>
            </a:gs>
            <a:gs pos="40000">
              <a:srgbClr val="E66FA0"/>
            </a:gs>
            <a:gs pos="100000">
              <a:srgbClr val="FFD8D8"/>
            </a:gs>
          </a:gsLst>
          <a:lin ang="5400012" scaled="0"/>
        </a:gradFill>
      </p:bgPr>
    </p:bg>
    <p:spTree>
      <p:nvGrpSpPr>
        <p:cNvPr id="53" name="Shape 53"/>
        <p:cNvGrpSpPr/>
        <p:nvPr/>
      </p:nvGrpSpPr>
      <p:grpSpPr>
        <a:xfrm>
          <a:off x="0" y="0"/>
          <a:ext cx="0" cy="0"/>
          <a:chOff x="0" y="0"/>
          <a:chExt cx="0" cy="0"/>
        </a:xfrm>
      </p:grpSpPr>
      <p:sp>
        <p:nvSpPr>
          <p:cNvPr id="54" name="Google Shape;54;p13"/>
          <p:cNvSpPr txBox="1"/>
          <p:nvPr/>
        </p:nvSpPr>
        <p:spPr>
          <a:xfrm>
            <a:off x="622493" y="1370750"/>
            <a:ext cx="8023800" cy="1523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2800">
                <a:solidFill>
                  <a:srgbClr val="24306A"/>
                </a:solidFill>
                <a:latin typeface="Raleway"/>
                <a:ea typeface="Raleway"/>
                <a:cs typeface="Raleway"/>
                <a:sym typeface="Raleway"/>
              </a:rPr>
              <a:t>Rare Variant Analysis and Exome-wide Association Studies (ExWAS) of Hearing Loss in the Penn Medicine BioBank (PMBB)</a:t>
            </a:r>
            <a:endParaRPr sz="2800">
              <a:solidFill>
                <a:srgbClr val="24306A"/>
              </a:solidFill>
            </a:endParaRPr>
          </a:p>
        </p:txBody>
      </p:sp>
      <p:pic>
        <p:nvPicPr>
          <p:cNvPr id="55" name="Google Shape;55;p13" title="Penn RTA Penn PSOM Logo.jpg"/>
          <p:cNvPicPr preferRelativeResize="0"/>
          <p:nvPr/>
        </p:nvPicPr>
        <p:blipFill>
          <a:blip r:embed="rId3">
            <a:alphaModFix/>
          </a:blip>
          <a:stretch>
            <a:fillRect/>
          </a:stretch>
        </p:blipFill>
        <p:spPr>
          <a:xfrm>
            <a:off x="6765529" y="3951530"/>
            <a:ext cx="2040847" cy="984549"/>
          </a:xfrm>
          <a:prstGeom prst="rect">
            <a:avLst/>
          </a:prstGeom>
          <a:solidFill>
            <a:srgbClr val="FFFFFF"/>
          </a:solidFill>
          <a:ln>
            <a:noFill/>
          </a:ln>
        </p:spPr>
      </p:pic>
      <p:pic>
        <p:nvPicPr>
          <p:cNvPr id="56" name="Google Shape;56;p13"/>
          <p:cNvPicPr preferRelativeResize="0"/>
          <p:nvPr/>
        </p:nvPicPr>
        <p:blipFill>
          <a:blip r:embed="rId4">
            <a:alphaModFix/>
          </a:blip>
          <a:stretch>
            <a:fillRect/>
          </a:stretch>
        </p:blipFill>
        <p:spPr>
          <a:xfrm>
            <a:off x="439225" y="4220774"/>
            <a:ext cx="3333700" cy="665900"/>
          </a:xfrm>
          <a:prstGeom prst="rect">
            <a:avLst/>
          </a:prstGeom>
          <a:noFill/>
          <a:ln>
            <a:noFill/>
          </a:ln>
        </p:spPr>
      </p:pic>
      <p:pic>
        <p:nvPicPr>
          <p:cNvPr id="57" name="Google Shape;57;p13" title="halllogo1_thin.png"/>
          <p:cNvPicPr preferRelativeResize="0"/>
          <p:nvPr/>
        </p:nvPicPr>
        <p:blipFill rotWithShape="1">
          <a:blip r:embed="rId5">
            <a:alphaModFix/>
          </a:blip>
          <a:srcRect b="24710" l="0" r="0" t="0"/>
          <a:stretch/>
        </p:blipFill>
        <p:spPr>
          <a:xfrm>
            <a:off x="4370538" y="3797521"/>
            <a:ext cx="1797376" cy="1138550"/>
          </a:xfrm>
          <a:prstGeom prst="rect">
            <a:avLst/>
          </a:prstGeom>
          <a:noFill/>
          <a:ln>
            <a:noFill/>
          </a:ln>
        </p:spPr>
      </p:pic>
      <p:sp>
        <p:nvSpPr>
          <p:cNvPr id="58" name="Google Shape;58;p13"/>
          <p:cNvSpPr txBox="1"/>
          <p:nvPr/>
        </p:nvSpPr>
        <p:spPr>
          <a:xfrm>
            <a:off x="944515" y="2893847"/>
            <a:ext cx="9144000" cy="7497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500">
                <a:solidFill>
                  <a:srgbClr val="961B1F"/>
                </a:solidFill>
              </a:rPr>
              <a:t>Elena Sretenović</a:t>
            </a:r>
            <a:r>
              <a:rPr b="1" baseline="30000" lang="en" sz="1500">
                <a:solidFill>
                  <a:srgbClr val="961B1F"/>
                </a:solidFill>
              </a:rPr>
              <a:t>1</a:t>
            </a:r>
            <a:r>
              <a:rPr b="1" lang="en" sz="1500">
                <a:solidFill>
                  <a:srgbClr val="961B1F"/>
                </a:solidFill>
              </a:rPr>
              <a:t>, Nicole Palmiero</a:t>
            </a:r>
            <a:r>
              <a:rPr b="1" baseline="30000" lang="en" sz="1500">
                <a:solidFill>
                  <a:srgbClr val="961B1F"/>
                </a:solidFill>
              </a:rPr>
              <a:t>1</a:t>
            </a:r>
            <a:r>
              <a:rPr b="1" lang="en" sz="1500">
                <a:solidFill>
                  <a:srgbClr val="961B1F"/>
                </a:solidFill>
              </a:rPr>
              <a:t>, Andre Rico</a:t>
            </a:r>
            <a:r>
              <a:rPr b="1" baseline="30000" lang="en" sz="1500">
                <a:solidFill>
                  <a:srgbClr val="961B1F"/>
                </a:solidFill>
              </a:rPr>
              <a:t>1</a:t>
            </a:r>
            <a:r>
              <a:rPr b="1" lang="en" sz="1500">
                <a:solidFill>
                  <a:srgbClr val="961B1F"/>
                </a:solidFill>
              </a:rPr>
              <a:t>, Douglas J  Epstein</a:t>
            </a:r>
            <a:r>
              <a:rPr b="1" baseline="30000" lang="en" sz="1500">
                <a:solidFill>
                  <a:srgbClr val="961B1F"/>
                </a:solidFill>
              </a:rPr>
              <a:t>1</a:t>
            </a:r>
            <a:r>
              <a:rPr b="1" lang="en" sz="1500">
                <a:solidFill>
                  <a:srgbClr val="961B1F"/>
                </a:solidFill>
              </a:rPr>
              <a:t>, Molly A Hall</a:t>
            </a:r>
            <a:r>
              <a:rPr b="1" baseline="30000" lang="en" sz="1500">
                <a:solidFill>
                  <a:srgbClr val="961B1F"/>
                </a:solidFill>
              </a:rPr>
              <a:t>1</a:t>
            </a:r>
            <a:endParaRPr b="1" baseline="30000" sz="1500">
              <a:solidFill>
                <a:srgbClr val="961B1F"/>
              </a:solidFill>
            </a:endParaRPr>
          </a:p>
          <a:p>
            <a:pPr indent="457200" lvl="0" marL="0" rtl="0" algn="l">
              <a:lnSpc>
                <a:spcPct val="115000"/>
              </a:lnSpc>
              <a:spcBef>
                <a:spcPts val="0"/>
              </a:spcBef>
              <a:spcAft>
                <a:spcPts val="0"/>
              </a:spcAft>
              <a:buNone/>
            </a:pPr>
            <a:r>
              <a:rPr b="1" lang="en" sz="1200">
                <a:solidFill>
                  <a:srgbClr val="961B1F"/>
                </a:solidFill>
              </a:rPr>
              <a:t>1. </a:t>
            </a:r>
            <a:r>
              <a:rPr b="1" lang="en" sz="1200">
                <a:solidFill>
                  <a:srgbClr val="961B1F"/>
                </a:solidFill>
              </a:rPr>
              <a:t>Department of Genetics, Perelman School of Medicine, University of Pennsylvania </a:t>
            </a:r>
            <a:endParaRPr b="1" sz="1200">
              <a:solidFill>
                <a:srgbClr val="961B1F"/>
              </a:solidFill>
            </a:endParaRPr>
          </a:p>
        </p:txBody>
      </p:sp>
      <p:sp>
        <p:nvSpPr>
          <p:cNvPr id="59" name="Google Shape;59;p13"/>
          <p:cNvSpPr/>
          <p:nvPr/>
        </p:nvSpPr>
        <p:spPr>
          <a:xfrm>
            <a:off x="280675" y="158625"/>
            <a:ext cx="2925000" cy="9846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60" name="Google Shape;60;p13" title="perelmanmedicine-logo-blue.png"/>
          <p:cNvPicPr preferRelativeResize="0"/>
          <p:nvPr/>
        </p:nvPicPr>
        <p:blipFill>
          <a:blip r:embed="rId6">
            <a:alphaModFix/>
          </a:blip>
          <a:stretch>
            <a:fillRect/>
          </a:stretch>
        </p:blipFill>
        <p:spPr>
          <a:xfrm>
            <a:off x="331800" y="276075"/>
            <a:ext cx="2771451" cy="7497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4"/>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Background</a:t>
            </a:r>
            <a:r>
              <a:rPr b="1" lang="en">
                <a:latin typeface="Raleway"/>
                <a:ea typeface="Raleway"/>
                <a:cs typeface="Raleway"/>
                <a:sym typeface="Raleway"/>
              </a:rPr>
              <a:t> </a:t>
            </a:r>
            <a:endParaRPr b="1">
              <a:latin typeface="Raleway"/>
              <a:ea typeface="Raleway"/>
              <a:cs typeface="Raleway"/>
              <a:sym typeface="Raleway"/>
            </a:endParaRPr>
          </a:p>
        </p:txBody>
      </p:sp>
      <p:sp>
        <p:nvSpPr>
          <p:cNvPr id="66" name="Google Shape;66;p14"/>
          <p:cNvSpPr txBox="1"/>
          <p:nvPr>
            <p:ph idx="1" type="body"/>
          </p:nvPr>
        </p:nvSpPr>
        <p:spPr>
          <a:xfrm>
            <a:off x="311700" y="1115866"/>
            <a:ext cx="4260300" cy="3416400"/>
          </a:xfrm>
          <a:prstGeom prst="rect">
            <a:avLst/>
          </a:prstGeom>
        </p:spPr>
        <p:txBody>
          <a:bodyPr anchorCtr="0" anchor="t" bIns="91425" lIns="91425" spcFirstLastPara="1" rIns="91425" wrap="square" tIns="91425">
            <a:noAutofit/>
          </a:bodyPr>
          <a:lstStyle/>
          <a:p>
            <a:pPr indent="-307685" lvl="0" marL="374072" rtl="0" algn="l">
              <a:spcBef>
                <a:spcPts val="0"/>
              </a:spcBef>
              <a:spcAft>
                <a:spcPts val="0"/>
              </a:spcAft>
              <a:buClr>
                <a:schemeClr val="dk1"/>
              </a:buClr>
              <a:buSzPts val="1900"/>
              <a:buChar char="●"/>
            </a:pPr>
            <a:r>
              <a:rPr b="1" lang="en" sz="1900">
                <a:solidFill>
                  <a:schemeClr val="dk1"/>
                </a:solidFill>
              </a:rPr>
              <a:t>Adult-onset hearing loss</a:t>
            </a:r>
            <a:r>
              <a:rPr lang="en" sz="1900">
                <a:solidFill>
                  <a:schemeClr val="dk1"/>
                </a:solidFill>
              </a:rPr>
              <a:t> is one of the most common sensory disorders worldwide and can arise from genetic factors</a:t>
            </a:r>
            <a:endParaRPr sz="100">
              <a:solidFill>
                <a:schemeClr val="dk1"/>
              </a:solidFill>
            </a:endParaRPr>
          </a:p>
          <a:p>
            <a:pPr indent="-307685" lvl="0" marL="374072" rtl="0" algn="l">
              <a:spcBef>
                <a:spcPts val="1000"/>
              </a:spcBef>
              <a:spcAft>
                <a:spcPts val="0"/>
              </a:spcAft>
              <a:buClr>
                <a:schemeClr val="dk1"/>
              </a:buClr>
              <a:buSzPts val="1900"/>
              <a:buChar char="●"/>
            </a:pPr>
            <a:r>
              <a:rPr lang="en" sz="1900">
                <a:solidFill>
                  <a:schemeClr val="dk1"/>
                </a:solidFill>
              </a:rPr>
              <a:t>Different genetic architecture compared to</a:t>
            </a:r>
            <a:r>
              <a:rPr b="1" lang="en" sz="1900">
                <a:solidFill>
                  <a:schemeClr val="dk1"/>
                </a:solidFill>
              </a:rPr>
              <a:t> c</a:t>
            </a:r>
            <a:r>
              <a:rPr b="1" lang="en" sz="1900">
                <a:solidFill>
                  <a:schemeClr val="dk1"/>
                </a:solidFill>
              </a:rPr>
              <a:t>ongenital</a:t>
            </a:r>
            <a:r>
              <a:rPr b="1" lang="en" sz="1900">
                <a:solidFill>
                  <a:schemeClr val="dk1"/>
                </a:solidFill>
              </a:rPr>
              <a:t> hearing loss </a:t>
            </a:r>
            <a:endParaRPr b="1" sz="1900">
              <a:solidFill>
                <a:schemeClr val="dk1"/>
              </a:solidFill>
            </a:endParaRPr>
          </a:p>
          <a:p>
            <a:pPr indent="-307685" lvl="0" marL="374072" rtl="0" algn="l">
              <a:spcBef>
                <a:spcPts val="1000"/>
              </a:spcBef>
              <a:spcAft>
                <a:spcPts val="0"/>
              </a:spcAft>
              <a:buClr>
                <a:schemeClr val="dk1"/>
              </a:buClr>
              <a:buSzPts val="1900"/>
              <a:buChar char="●"/>
            </a:pPr>
            <a:r>
              <a:rPr lang="en" sz="1900">
                <a:solidFill>
                  <a:schemeClr val="dk1"/>
                </a:solidFill>
              </a:rPr>
              <a:t>Biobank Datasets</a:t>
            </a:r>
            <a:endParaRPr sz="1900">
              <a:solidFill>
                <a:schemeClr val="dk1"/>
              </a:solidFill>
            </a:endParaRPr>
          </a:p>
          <a:p>
            <a:pPr indent="-282287" lvl="1" marL="748146" rtl="0" algn="l">
              <a:spcBef>
                <a:spcPts val="0"/>
              </a:spcBef>
              <a:spcAft>
                <a:spcPts val="0"/>
              </a:spcAft>
              <a:buClr>
                <a:schemeClr val="dk1"/>
              </a:buClr>
              <a:buSzPts val="1500"/>
              <a:buChar char="○"/>
            </a:pPr>
            <a:r>
              <a:rPr lang="en" sz="1500">
                <a:solidFill>
                  <a:schemeClr val="dk1"/>
                </a:solidFill>
              </a:rPr>
              <a:t>Exome sequencing</a:t>
            </a:r>
            <a:endParaRPr sz="1500">
              <a:solidFill>
                <a:schemeClr val="dk1"/>
              </a:solidFill>
            </a:endParaRPr>
          </a:p>
          <a:p>
            <a:pPr indent="-282287" lvl="1" marL="748146" rtl="0" algn="l">
              <a:spcBef>
                <a:spcPts val="0"/>
              </a:spcBef>
              <a:spcAft>
                <a:spcPts val="0"/>
              </a:spcAft>
              <a:buClr>
                <a:schemeClr val="dk1"/>
              </a:buClr>
              <a:buSzPts val="1500"/>
              <a:buChar char="○"/>
            </a:pPr>
            <a:r>
              <a:rPr lang="en" sz="1500">
                <a:solidFill>
                  <a:schemeClr val="dk1"/>
                </a:solidFill>
              </a:rPr>
              <a:t>Electronic health record (EHR) </a:t>
            </a:r>
            <a:endParaRPr sz="1070">
              <a:solidFill>
                <a:schemeClr val="dk1"/>
              </a:solidFill>
            </a:endParaRPr>
          </a:p>
        </p:txBody>
      </p:sp>
      <p:cxnSp>
        <p:nvCxnSpPr>
          <p:cNvPr id="67" name="Google Shape;67;p14"/>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pic>
        <p:nvPicPr>
          <p:cNvPr id="68" name="Google Shape;68;p14" title="Biobank-explainer.png"/>
          <p:cNvPicPr preferRelativeResize="0"/>
          <p:nvPr/>
        </p:nvPicPr>
        <p:blipFill rotWithShape="1">
          <a:blip r:embed="rId3">
            <a:alphaModFix/>
          </a:blip>
          <a:srcRect b="28165" l="0" r="0" t="11857"/>
          <a:stretch/>
        </p:blipFill>
        <p:spPr>
          <a:xfrm>
            <a:off x="4765200" y="1163375"/>
            <a:ext cx="4155075" cy="360439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5"/>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Background </a:t>
            </a:r>
            <a:endParaRPr b="1">
              <a:latin typeface="Raleway"/>
              <a:ea typeface="Raleway"/>
              <a:cs typeface="Raleway"/>
              <a:sym typeface="Raleway"/>
            </a:endParaRPr>
          </a:p>
        </p:txBody>
      </p:sp>
      <p:sp>
        <p:nvSpPr>
          <p:cNvPr id="74" name="Google Shape;74;p15"/>
          <p:cNvSpPr txBox="1"/>
          <p:nvPr>
            <p:ph idx="1" type="body"/>
          </p:nvPr>
        </p:nvSpPr>
        <p:spPr>
          <a:xfrm>
            <a:off x="311700" y="1115875"/>
            <a:ext cx="4260300" cy="2234700"/>
          </a:xfrm>
          <a:prstGeom prst="rect">
            <a:avLst/>
          </a:prstGeom>
        </p:spPr>
        <p:txBody>
          <a:bodyPr anchorCtr="0" anchor="t" bIns="91425" lIns="91425" spcFirstLastPara="1" rIns="91425" wrap="square" tIns="91425">
            <a:noAutofit/>
          </a:bodyPr>
          <a:lstStyle/>
          <a:p>
            <a:pPr indent="-301335" lvl="0" marL="374072" rtl="0" algn="l">
              <a:spcBef>
                <a:spcPts val="0"/>
              </a:spcBef>
              <a:spcAft>
                <a:spcPts val="0"/>
              </a:spcAft>
              <a:buClr>
                <a:schemeClr val="dk1"/>
              </a:buClr>
              <a:buSzPts val="1800"/>
              <a:buChar char="●"/>
            </a:pPr>
            <a:r>
              <a:rPr b="1" lang="en">
                <a:solidFill>
                  <a:schemeClr val="dk1"/>
                </a:solidFill>
              </a:rPr>
              <a:t>Penn Medicine BioBank (PMBB) </a:t>
            </a:r>
            <a:endParaRPr b="1" sz="100">
              <a:solidFill>
                <a:schemeClr val="dk1"/>
              </a:solidFill>
            </a:endParaRPr>
          </a:p>
          <a:p>
            <a:pPr indent="-301335" lvl="0" marL="374072" rtl="0" algn="l">
              <a:spcBef>
                <a:spcPts val="1000"/>
              </a:spcBef>
              <a:spcAft>
                <a:spcPts val="0"/>
              </a:spcAft>
              <a:buClr>
                <a:schemeClr val="dk1"/>
              </a:buClr>
              <a:buSzPts val="1800"/>
              <a:buChar char="●"/>
            </a:pPr>
            <a:r>
              <a:rPr lang="en">
                <a:solidFill>
                  <a:schemeClr val="dk1"/>
                </a:solidFill>
              </a:rPr>
              <a:t>Previous analyses identified </a:t>
            </a:r>
            <a:r>
              <a:rPr b="1" i="1" lang="en">
                <a:solidFill>
                  <a:schemeClr val="dk1"/>
                </a:solidFill>
              </a:rPr>
              <a:t>ZNF175</a:t>
            </a:r>
            <a:r>
              <a:rPr b="1" lang="en">
                <a:solidFill>
                  <a:schemeClr val="dk1"/>
                </a:solidFill>
              </a:rPr>
              <a:t> as a candidate hearing loss gene</a:t>
            </a:r>
            <a:r>
              <a:rPr b="1" baseline="30000" lang="en">
                <a:solidFill>
                  <a:schemeClr val="dk1"/>
                </a:solidFill>
              </a:rPr>
              <a:t>1</a:t>
            </a:r>
            <a:r>
              <a:rPr b="1" lang="en">
                <a:solidFill>
                  <a:schemeClr val="dk1"/>
                </a:solidFill>
              </a:rPr>
              <a:t> </a:t>
            </a:r>
            <a:endParaRPr>
              <a:solidFill>
                <a:schemeClr val="dk1"/>
              </a:solidFill>
            </a:endParaRPr>
          </a:p>
          <a:p>
            <a:pPr indent="-275937" lvl="1" marL="748146" rtl="0" algn="l">
              <a:spcBef>
                <a:spcPts val="0"/>
              </a:spcBef>
              <a:spcAft>
                <a:spcPts val="0"/>
              </a:spcAft>
              <a:buClr>
                <a:schemeClr val="dk1"/>
              </a:buClr>
              <a:buSzPts val="1400"/>
              <a:buChar char="○"/>
            </a:pPr>
            <a:r>
              <a:rPr lang="en">
                <a:solidFill>
                  <a:schemeClr val="dk1"/>
                </a:solidFill>
              </a:rPr>
              <a:t>strong association with tinnitus </a:t>
            </a:r>
            <a:endParaRPr>
              <a:solidFill>
                <a:schemeClr val="dk1"/>
              </a:solidFill>
            </a:endParaRPr>
          </a:p>
          <a:p>
            <a:pPr indent="-275937" lvl="1" marL="748146" rtl="0" algn="l">
              <a:spcBef>
                <a:spcPts val="0"/>
              </a:spcBef>
              <a:spcAft>
                <a:spcPts val="0"/>
              </a:spcAft>
              <a:buClr>
                <a:schemeClr val="dk1"/>
              </a:buClr>
              <a:buSzPts val="1400"/>
              <a:buChar char="○"/>
            </a:pPr>
            <a:r>
              <a:rPr lang="en">
                <a:solidFill>
                  <a:schemeClr val="dk1"/>
                </a:solidFill>
              </a:rPr>
              <a:t>suggestive association with hearing loss.</a:t>
            </a:r>
            <a:endParaRPr>
              <a:solidFill>
                <a:schemeClr val="dk1"/>
              </a:solidFill>
            </a:endParaRPr>
          </a:p>
          <a:p>
            <a:pPr indent="0" lvl="0" marL="748146" rtl="0" algn="l">
              <a:spcBef>
                <a:spcPts val="1000"/>
              </a:spcBef>
              <a:spcAft>
                <a:spcPts val="0"/>
              </a:spcAft>
              <a:buNone/>
            </a:pPr>
            <a:r>
              <a:t/>
            </a:r>
            <a:endParaRPr sz="100">
              <a:solidFill>
                <a:schemeClr val="dk1"/>
              </a:solidFill>
            </a:endParaRPr>
          </a:p>
          <a:p>
            <a:pPr indent="0" lvl="0" marL="374072" rtl="0" algn="l">
              <a:spcBef>
                <a:spcPts val="0"/>
              </a:spcBef>
              <a:spcAft>
                <a:spcPts val="0"/>
              </a:spcAft>
              <a:buNone/>
            </a:pPr>
            <a:r>
              <a:t/>
            </a:r>
            <a:endParaRPr b="1">
              <a:solidFill>
                <a:schemeClr val="dk1"/>
              </a:solidFill>
            </a:endParaRPr>
          </a:p>
        </p:txBody>
      </p:sp>
      <p:pic>
        <p:nvPicPr>
          <p:cNvPr id="75" name="Google Shape;75;p15" title="images.png"/>
          <p:cNvPicPr preferRelativeResize="0"/>
          <p:nvPr/>
        </p:nvPicPr>
        <p:blipFill>
          <a:blip r:embed="rId3">
            <a:alphaModFix/>
          </a:blip>
          <a:stretch>
            <a:fillRect/>
          </a:stretch>
        </p:blipFill>
        <p:spPr>
          <a:xfrm>
            <a:off x="5148925" y="1280625"/>
            <a:ext cx="3445399" cy="1747425"/>
          </a:xfrm>
          <a:prstGeom prst="rect">
            <a:avLst/>
          </a:prstGeom>
          <a:noFill/>
          <a:ln>
            <a:noFill/>
          </a:ln>
        </p:spPr>
      </p:pic>
      <p:cxnSp>
        <p:nvCxnSpPr>
          <p:cNvPr id="76" name="Google Shape;76;p15"/>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pic>
        <p:nvPicPr>
          <p:cNvPr id="77" name="Google Shape;77;p15"/>
          <p:cNvPicPr preferRelativeResize="0"/>
          <p:nvPr/>
        </p:nvPicPr>
        <p:blipFill>
          <a:blip r:embed="rId4">
            <a:alphaModFix/>
          </a:blip>
          <a:stretch>
            <a:fillRect/>
          </a:stretch>
        </p:blipFill>
        <p:spPr>
          <a:xfrm>
            <a:off x="6951775" y="4061399"/>
            <a:ext cx="978886" cy="572700"/>
          </a:xfrm>
          <a:prstGeom prst="rect">
            <a:avLst/>
          </a:prstGeom>
          <a:noFill/>
          <a:ln>
            <a:noFill/>
          </a:ln>
        </p:spPr>
      </p:pic>
      <p:sp>
        <p:nvSpPr>
          <p:cNvPr id="78" name="Google Shape;78;p15"/>
          <p:cNvSpPr/>
          <p:nvPr/>
        </p:nvSpPr>
        <p:spPr>
          <a:xfrm>
            <a:off x="5492650" y="4061399"/>
            <a:ext cx="1214400" cy="572700"/>
          </a:xfrm>
          <a:prstGeom prst="roundRect">
            <a:avLst>
              <a:gd fmla="val 16667" name="adj"/>
            </a:avLst>
          </a:prstGeom>
          <a:solidFill>
            <a:srgbClr val="FFD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800"/>
              <a:t>Zfp719</a:t>
            </a:r>
            <a:endParaRPr b="1" i="1" sz="1800"/>
          </a:p>
        </p:txBody>
      </p:sp>
      <p:sp>
        <p:nvSpPr>
          <p:cNvPr id="79" name="Google Shape;79;p15"/>
          <p:cNvSpPr/>
          <p:nvPr/>
        </p:nvSpPr>
        <p:spPr>
          <a:xfrm>
            <a:off x="5492650" y="3314324"/>
            <a:ext cx="1214400" cy="572700"/>
          </a:xfrm>
          <a:prstGeom prst="roundRect">
            <a:avLst>
              <a:gd fmla="val 16667" name="adj"/>
            </a:avLst>
          </a:prstGeom>
          <a:solidFill>
            <a:srgbClr val="FFD8D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i="1" lang="en" sz="1800"/>
              <a:t>ZNF175</a:t>
            </a:r>
            <a:endParaRPr b="1" i="1" sz="1800"/>
          </a:p>
        </p:txBody>
      </p:sp>
      <p:pic>
        <p:nvPicPr>
          <p:cNvPr id="80" name="Google Shape;80;p15" title="images.png"/>
          <p:cNvPicPr preferRelativeResize="0"/>
          <p:nvPr/>
        </p:nvPicPr>
        <p:blipFill>
          <a:blip r:embed="rId5">
            <a:alphaModFix/>
          </a:blip>
          <a:stretch>
            <a:fillRect/>
          </a:stretch>
        </p:blipFill>
        <p:spPr>
          <a:xfrm>
            <a:off x="6956055" y="3240589"/>
            <a:ext cx="720175" cy="720175"/>
          </a:xfrm>
          <a:prstGeom prst="rect">
            <a:avLst/>
          </a:prstGeom>
          <a:noFill/>
          <a:ln>
            <a:noFill/>
          </a:ln>
        </p:spPr>
      </p:pic>
      <p:pic>
        <p:nvPicPr>
          <p:cNvPr id="81" name="Google Shape;81;p15" title="images.png"/>
          <p:cNvPicPr preferRelativeResize="0"/>
          <p:nvPr/>
        </p:nvPicPr>
        <p:blipFill rotWithShape="1">
          <a:blip r:embed="rId6">
            <a:alphaModFix/>
          </a:blip>
          <a:srcRect b="17384" l="17134" r="15490" t="13930"/>
          <a:stretch/>
        </p:blipFill>
        <p:spPr>
          <a:xfrm rot="641378">
            <a:off x="6867226" y="4006550"/>
            <a:ext cx="181475" cy="199926"/>
          </a:xfrm>
          <a:prstGeom prst="rect">
            <a:avLst/>
          </a:prstGeom>
          <a:noFill/>
          <a:ln>
            <a:noFill/>
          </a:ln>
        </p:spPr>
      </p:pic>
      <p:sp>
        <p:nvSpPr>
          <p:cNvPr id="82" name="Google Shape;82;p15"/>
          <p:cNvSpPr txBox="1"/>
          <p:nvPr/>
        </p:nvSpPr>
        <p:spPr>
          <a:xfrm>
            <a:off x="5807879" y="4780534"/>
            <a:ext cx="3889200" cy="479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rPr>
              <a:t>1. </a:t>
            </a:r>
            <a:r>
              <a:rPr lang="en" sz="1100">
                <a:solidFill>
                  <a:schemeClr val="dk1"/>
                </a:solidFill>
              </a:rPr>
              <a:t>Park J, et al. </a:t>
            </a:r>
            <a:r>
              <a:rPr i="1" lang="en" sz="1100">
                <a:solidFill>
                  <a:schemeClr val="dk1"/>
                </a:solidFill>
              </a:rPr>
              <a:t>Nature Medicine</a:t>
            </a:r>
            <a:r>
              <a:rPr lang="en" sz="1100">
                <a:solidFill>
                  <a:schemeClr val="dk1"/>
                </a:solidFill>
              </a:rPr>
              <a:t>. 2021;27:66–72. </a:t>
            </a:r>
            <a:endParaRPr sz="1800">
              <a:solidFill>
                <a:schemeClr val="dk2"/>
              </a:solidFill>
            </a:endParaRPr>
          </a:p>
        </p:txBody>
      </p:sp>
      <p:sp>
        <p:nvSpPr>
          <p:cNvPr id="83" name="Google Shape;83;p15"/>
          <p:cNvSpPr txBox="1"/>
          <p:nvPr/>
        </p:nvSpPr>
        <p:spPr>
          <a:xfrm>
            <a:off x="317275" y="3361875"/>
            <a:ext cx="4254600" cy="1449300"/>
          </a:xfrm>
          <a:prstGeom prst="rect">
            <a:avLst/>
          </a:prstGeom>
          <a:noFill/>
          <a:ln>
            <a:noFill/>
          </a:ln>
        </p:spPr>
        <p:txBody>
          <a:bodyPr anchorCtr="0" anchor="t" bIns="91425" lIns="91425" spcFirstLastPara="1" rIns="91425" wrap="square" tIns="91425">
            <a:noAutofit/>
          </a:bodyPr>
          <a:lstStyle/>
          <a:p>
            <a:pPr indent="-301335" lvl="0" marL="374072" rtl="0" algn="l">
              <a:lnSpc>
                <a:spcPct val="115000"/>
              </a:lnSpc>
              <a:spcBef>
                <a:spcPts val="0"/>
              </a:spcBef>
              <a:spcAft>
                <a:spcPts val="0"/>
              </a:spcAft>
              <a:buClr>
                <a:schemeClr val="dk1"/>
              </a:buClr>
              <a:buSzPts val="1800"/>
              <a:buChar char="●"/>
            </a:pPr>
            <a:r>
              <a:rPr lang="en" sz="1800">
                <a:solidFill>
                  <a:schemeClr val="dk1"/>
                </a:solidFill>
              </a:rPr>
              <a:t>Functional studies in mice further support </a:t>
            </a:r>
            <a:r>
              <a:rPr i="1" lang="en" sz="1800">
                <a:solidFill>
                  <a:schemeClr val="dk1"/>
                </a:solidFill>
              </a:rPr>
              <a:t>ZNF175</a:t>
            </a:r>
            <a:r>
              <a:rPr lang="en" sz="1800">
                <a:solidFill>
                  <a:schemeClr val="dk1"/>
                </a:solidFill>
              </a:rPr>
              <a:t>’s role as a hearing loss gene</a:t>
            </a:r>
            <a:endParaRPr sz="1800">
              <a:solidFill>
                <a:schemeClr val="dk1"/>
              </a:solidFill>
            </a:endParaRPr>
          </a:p>
          <a:p>
            <a:pPr indent="-275937" lvl="1" marL="748146" rtl="0" algn="l">
              <a:lnSpc>
                <a:spcPct val="115000"/>
              </a:lnSpc>
              <a:spcBef>
                <a:spcPts val="0"/>
              </a:spcBef>
              <a:spcAft>
                <a:spcPts val="1000"/>
              </a:spcAft>
              <a:buClr>
                <a:schemeClr val="dk1"/>
              </a:buClr>
              <a:buSzPts val="1400"/>
              <a:buChar char="○"/>
            </a:pPr>
            <a:r>
              <a:rPr lang="en">
                <a:solidFill>
                  <a:schemeClr val="dk1"/>
                </a:solidFill>
              </a:rPr>
              <a:t>disruption of the mouse ortholog (</a:t>
            </a:r>
            <a:r>
              <a:rPr i="1" lang="en">
                <a:solidFill>
                  <a:schemeClr val="dk1"/>
                </a:solidFill>
              </a:rPr>
              <a:t>Zfp719</a:t>
            </a:r>
            <a:r>
              <a:rPr lang="en">
                <a:solidFill>
                  <a:schemeClr val="dk1"/>
                </a:solidFill>
              </a:rPr>
              <a:t>) → hearing loss in mice. </a:t>
            </a:r>
            <a:endParaRPr sz="1800">
              <a:solidFill>
                <a:schemeClr val="dk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6"/>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Goals</a:t>
            </a:r>
            <a:endParaRPr b="1">
              <a:latin typeface="Raleway"/>
              <a:ea typeface="Raleway"/>
              <a:cs typeface="Raleway"/>
              <a:sym typeface="Raleway"/>
            </a:endParaRPr>
          </a:p>
        </p:txBody>
      </p:sp>
      <p:cxnSp>
        <p:nvCxnSpPr>
          <p:cNvPr id="89" name="Google Shape;89;p16"/>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sp>
        <p:nvSpPr>
          <p:cNvPr id="90" name="Google Shape;90;p16"/>
          <p:cNvSpPr/>
          <p:nvPr/>
        </p:nvSpPr>
        <p:spPr>
          <a:xfrm>
            <a:off x="317275" y="1641275"/>
            <a:ext cx="4118400" cy="2397900"/>
          </a:xfrm>
          <a:prstGeom prst="roundRect">
            <a:avLst>
              <a:gd fmla="val 16667" name="adj"/>
            </a:avLst>
          </a:prstGeom>
          <a:solidFill>
            <a:srgbClr val="FFD8D8"/>
          </a:solidFill>
          <a:ln>
            <a:noFill/>
          </a:ln>
        </p:spPr>
        <p:txBody>
          <a:bodyPr anchorCtr="0" anchor="ctr" bIns="91425" lIns="91425" spcFirstLastPara="1" rIns="91425" wrap="square" tIns="91425">
            <a:noAutofit/>
          </a:bodyPr>
          <a:lstStyle/>
          <a:p>
            <a:pPr indent="0" lvl="0" marL="457200" rtl="0" algn="l">
              <a:lnSpc>
                <a:spcPct val="115000"/>
              </a:lnSpc>
              <a:spcBef>
                <a:spcPts val="0"/>
              </a:spcBef>
              <a:spcAft>
                <a:spcPts val="0"/>
              </a:spcAft>
              <a:buNone/>
            </a:pPr>
            <a:r>
              <a:rPr b="1" lang="en" sz="2400">
                <a:solidFill>
                  <a:schemeClr val="dk1"/>
                </a:solidFill>
                <a:latin typeface="Raleway"/>
                <a:ea typeface="Raleway"/>
                <a:cs typeface="Raleway"/>
                <a:sym typeface="Raleway"/>
              </a:rPr>
              <a:t>E</a:t>
            </a:r>
            <a:r>
              <a:rPr b="1" lang="en" sz="2400">
                <a:solidFill>
                  <a:schemeClr val="dk1"/>
                </a:solidFill>
                <a:latin typeface="Raleway"/>
                <a:ea typeface="Raleway"/>
                <a:cs typeface="Raleway"/>
                <a:sym typeface="Raleway"/>
              </a:rPr>
              <a:t>valuate the association between </a:t>
            </a:r>
            <a:r>
              <a:rPr b="1" i="1" lang="en" sz="2400">
                <a:solidFill>
                  <a:srgbClr val="CD0568"/>
                </a:solidFill>
                <a:latin typeface="Raleway"/>
                <a:ea typeface="Raleway"/>
                <a:cs typeface="Raleway"/>
                <a:sym typeface="Raleway"/>
              </a:rPr>
              <a:t>ZNF175</a:t>
            </a:r>
            <a:r>
              <a:rPr b="1" lang="en" sz="2400">
                <a:solidFill>
                  <a:schemeClr val="dk1"/>
                </a:solidFill>
                <a:latin typeface="Raleway"/>
                <a:ea typeface="Raleway"/>
                <a:cs typeface="Raleway"/>
                <a:sym typeface="Raleway"/>
              </a:rPr>
              <a:t> and </a:t>
            </a:r>
            <a:r>
              <a:rPr b="1" lang="en" sz="2400">
                <a:solidFill>
                  <a:srgbClr val="CD0568"/>
                </a:solidFill>
                <a:latin typeface="Raleway"/>
                <a:ea typeface="Raleway"/>
                <a:cs typeface="Raleway"/>
                <a:sym typeface="Raleway"/>
              </a:rPr>
              <a:t>hearing loss </a:t>
            </a:r>
            <a:r>
              <a:rPr b="1" lang="en" sz="2400">
                <a:solidFill>
                  <a:schemeClr val="dk1"/>
                </a:solidFill>
                <a:latin typeface="Raleway"/>
                <a:ea typeface="Raleway"/>
                <a:cs typeface="Raleway"/>
                <a:sym typeface="Raleway"/>
              </a:rPr>
              <a:t>in PMBB v4</a:t>
            </a:r>
            <a:endParaRPr b="1" sz="2400">
              <a:solidFill>
                <a:schemeClr val="dk1"/>
              </a:solidFill>
              <a:latin typeface="Raleway"/>
              <a:ea typeface="Raleway"/>
              <a:cs typeface="Raleway"/>
              <a:sym typeface="Raleway"/>
            </a:endParaRPr>
          </a:p>
          <a:p>
            <a:pPr indent="0" lvl="0" marL="0" rtl="0" algn="ctr">
              <a:spcBef>
                <a:spcPts val="1200"/>
              </a:spcBef>
              <a:spcAft>
                <a:spcPts val="0"/>
              </a:spcAft>
              <a:buNone/>
            </a:pPr>
            <a:r>
              <a:t/>
            </a:r>
            <a:endParaRPr/>
          </a:p>
        </p:txBody>
      </p:sp>
      <p:sp>
        <p:nvSpPr>
          <p:cNvPr id="91" name="Google Shape;91;p16"/>
          <p:cNvSpPr/>
          <p:nvPr/>
        </p:nvSpPr>
        <p:spPr>
          <a:xfrm>
            <a:off x="4572000" y="1641275"/>
            <a:ext cx="4118400" cy="2397900"/>
          </a:xfrm>
          <a:prstGeom prst="roundRect">
            <a:avLst>
              <a:gd fmla="val 16667" name="adj"/>
            </a:avLst>
          </a:prstGeom>
          <a:solidFill>
            <a:srgbClr val="FFD8D8"/>
          </a:solidFill>
          <a:ln>
            <a:noFill/>
          </a:ln>
        </p:spPr>
        <p:txBody>
          <a:bodyPr anchorCtr="0" anchor="ctr" bIns="91425" lIns="91425" spcFirstLastPara="1" rIns="91425" wrap="square" tIns="91425">
            <a:noAutofit/>
          </a:bodyPr>
          <a:lstStyle/>
          <a:p>
            <a:pPr indent="0" lvl="0" marL="374072" rtl="0" algn="l">
              <a:lnSpc>
                <a:spcPct val="115000"/>
              </a:lnSpc>
              <a:spcBef>
                <a:spcPts val="0"/>
              </a:spcBef>
              <a:spcAft>
                <a:spcPts val="1200"/>
              </a:spcAft>
              <a:buNone/>
            </a:pPr>
            <a:r>
              <a:rPr b="1" lang="en" sz="2400">
                <a:latin typeface="Raleway"/>
                <a:ea typeface="Raleway"/>
                <a:cs typeface="Raleway"/>
                <a:sym typeface="Raleway"/>
              </a:rPr>
              <a:t>S</a:t>
            </a:r>
            <a:r>
              <a:rPr b="1" lang="en" sz="2400">
                <a:latin typeface="Raleway"/>
                <a:ea typeface="Raleway"/>
                <a:cs typeface="Raleway"/>
                <a:sym typeface="Raleway"/>
              </a:rPr>
              <a:t>earch for </a:t>
            </a:r>
            <a:r>
              <a:rPr b="1" lang="en" sz="2400">
                <a:solidFill>
                  <a:srgbClr val="CD0568"/>
                </a:solidFill>
                <a:latin typeface="Raleway"/>
                <a:ea typeface="Raleway"/>
                <a:cs typeface="Raleway"/>
                <a:sym typeface="Raleway"/>
              </a:rPr>
              <a:t>novel </a:t>
            </a:r>
            <a:r>
              <a:rPr b="1" lang="en" sz="2400">
                <a:latin typeface="Raleway"/>
                <a:ea typeface="Raleway"/>
                <a:cs typeface="Raleway"/>
                <a:sym typeface="Raleway"/>
              </a:rPr>
              <a:t>hearing loss genes </a:t>
            </a:r>
            <a:endParaRPr b="1" sz="2400">
              <a:latin typeface="Raleway"/>
              <a:ea typeface="Raleway"/>
              <a:cs typeface="Raleway"/>
              <a:sym typeface="Raleway"/>
            </a:endParaRPr>
          </a:p>
        </p:txBody>
      </p:sp>
      <p:sp>
        <p:nvSpPr>
          <p:cNvPr id="92" name="Google Shape;92;p16"/>
          <p:cNvSpPr txBox="1"/>
          <p:nvPr/>
        </p:nvSpPr>
        <p:spPr>
          <a:xfrm>
            <a:off x="2184305" y="999924"/>
            <a:ext cx="915300" cy="2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CD0568"/>
                </a:solidFill>
                <a:latin typeface="Raleway"/>
                <a:ea typeface="Raleway"/>
                <a:cs typeface="Raleway"/>
                <a:sym typeface="Raleway"/>
              </a:rPr>
              <a:t>1.</a:t>
            </a:r>
            <a:endParaRPr b="1" sz="3000">
              <a:solidFill>
                <a:srgbClr val="CD0568"/>
              </a:solidFill>
              <a:latin typeface="Raleway"/>
              <a:ea typeface="Raleway"/>
              <a:cs typeface="Raleway"/>
              <a:sym typeface="Raleway"/>
            </a:endParaRPr>
          </a:p>
        </p:txBody>
      </p:sp>
      <p:sp>
        <p:nvSpPr>
          <p:cNvPr id="93" name="Google Shape;93;p16"/>
          <p:cNvSpPr txBox="1"/>
          <p:nvPr/>
        </p:nvSpPr>
        <p:spPr>
          <a:xfrm>
            <a:off x="6411506" y="999924"/>
            <a:ext cx="915300" cy="29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000">
                <a:solidFill>
                  <a:srgbClr val="CD0568"/>
                </a:solidFill>
                <a:latin typeface="Raleway"/>
                <a:ea typeface="Raleway"/>
                <a:cs typeface="Raleway"/>
                <a:sym typeface="Raleway"/>
              </a:rPr>
              <a:t>2</a:t>
            </a:r>
            <a:r>
              <a:rPr b="1" lang="en" sz="3000">
                <a:solidFill>
                  <a:srgbClr val="CD0568"/>
                </a:solidFill>
                <a:latin typeface="Raleway"/>
                <a:ea typeface="Raleway"/>
                <a:cs typeface="Raleway"/>
                <a:sym typeface="Raleway"/>
              </a:rPr>
              <a:t>.</a:t>
            </a:r>
            <a:endParaRPr b="1" sz="3000">
              <a:solidFill>
                <a:srgbClr val="CD0568"/>
              </a:solidFill>
              <a:latin typeface="Raleway"/>
              <a:ea typeface="Raleway"/>
              <a:cs typeface="Raleway"/>
              <a:sym typeface="Raleway"/>
            </a:endParaRPr>
          </a:p>
        </p:txBody>
      </p:sp>
      <p:sp>
        <p:nvSpPr>
          <p:cNvPr id="94" name="Google Shape;94;p16"/>
          <p:cNvSpPr/>
          <p:nvPr/>
        </p:nvSpPr>
        <p:spPr>
          <a:xfrm>
            <a:off x="317275" y="4130675"/>
            <a:ext cx="1995300" cy="750600"/>
          </a:xfrm>
          <a:prstGeom prst="roundRect">
            <a:avLst>
              <a:gd fmla="val 16667" name="adj"/>
            </a:avLst>
          </a:prstGeom>
          <a:solidFill>
            <a:srgbClr val="D2A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Common</a:t>
            </a:r>
            <a:r>
              <a:rPr b="1" lang="en">
                <a:solidFill>
                  <a:schemeClr val="dk1"/>
                </a:solidFill>
                <a:latin typeface="Raleway"/>
                <a:ea typeface="Raleway"/>
                <a:cs typeface="Raleway"/>
                <a:sym typeface="Raleway"/>
              </a:rPr>
              <a:t> Variants </a:t>
            </a:r>
            <a:endParaRPr b="1">
              <a:solidFill>
                <a:schemeClr val="dk1"/>
              </a:solidFill>
              <a:latin typeface="Raleway"/>
              <a:ea typeface="Raleway"/>
              <a:cs typeface="Raleway"/>
              <a:sym typeface="Raleway"/>
            </a:endParaRPr>
          </a:p>
        </p:txBody>
      </p:sp>
      <p:sp>
        <p:nvSpPr>
          <p:cNvPr id="95" name="Google Shape;95;p16"/>
          <p:cNvSpPr/>
          <p:nvPr/>
        </p:nvSpPr>
        <p:spPr>
          <a:xfrm>
            <a:off x="2440375" y="4136649"/>
            <a:ext cx="1995300" cy="750600"/>
          </a:xfrm>
          <a:prstGeom prst="roundRect">
            <a:avLst>
              <a:gd fmla="val 16667" name="adj"/>
            </a:avLst>
          </a:prstGeom>
          <a:solidFill>
            <a:srgbClr val="D2A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Rare V</a:t>
            </a:r>
            <a:r>
              <a:rPr b="1" lang="en">
                <a:solidFill>
                  <a:schemeClr val="dk1"/>
                </a:solidFill>
                <a:latin typeface="Raleway"/>
                <a:ea typeface="Raleway"/>
                <a:cs typeface="Raleway"/>
                <a:sym typeface="Raleway"/>
              </a:rPr>
              <a:t>ariants </a:t>
            </a:r>
            <a:endParaRPr b="1">
              <a:solidFill>
                <a:schemeClr val="dk1"/>
              </a:solidFill>
              <a:latin typeface="Raleway"/>
              <a:ea typeface="Raleway"/>
              <a:cs typeface="Raleway"/>
              <a:sym typeface="Raleway"/>
            </a:endParaRPr>
          </a:p>
        </p:txBody>
      </p:sp>
      <p:sp>
        <p:nvSpPr>
          <p:cNvPr id="96" name="Google Shape;96;p16"/>
          <p:cNvSpPr/>
          <p:nvPr/>
        </p:nvSpPr>
        <p:spPr>
          <a:xfrm>
            <a:off x="4563475" y="4136650"/>
            <a:ext cx="1995300" cy="750600"/>
          </a:xfrm>
          <a:prstGeom prst="roundRect">
            <a:avLst>
              <a:gd fmla="val 16667" name="adj"/>
            </a:avLst>
          </a:prstGeom>
          <a:solidFill>
            <a:srgbClr val="D2A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Common</a:t>
            </a:r>
            <a:r>
              <a:rPr b="1" lang="en">
                <a:solidFill>
                  <a:schemeClr val="dk1"/>
                </a:solidFill>
                <a:latin typeface="Raleway"/>
                <a:ea typeface="Raleway"/>
                <a:cs typeface="Raleway"/>
                <a:sym typeface="Raleway"/>
              </a:rPr>
              <a:t> Variants </a:t>
            </a:r>
            <a:endParaRPr b="1">
              <a:solidFill>
                <a:schemeClr val="dk1"/>
              </a:solidFill>
              <a:latin typeface="Raleway"/>
              <a:ea typeface="Raleway"/>
              <a:cs typeface="Raleway"/>
              <a:sym typeface="Raleway"/>
            </a:endParaRPr>
          </a:p>
        </p:txBody>
      </p:sp>
      <p:sp>
        <p:nvSpPr>
          <p:cNvPr id="97" name="Google Shape;97;p16"/>
          <p:cNvSpPr/>
          <p:nvPr/>
        </p:nvSpPr>
        <p:spPr>
          <a:xfrm>
            <a:off x="6686575" y="4142624"/>
            <a:ext cx="1995300" cy="750600"/>
          </a:xfrm>
          <a:prstGeom prst="roundRect">
            <a:avLst>
              <a:gd fmla="val 16667" name="adj"/>
            </a:avLst>
          </a:prstGeom>
          <a:solidFill>
            <a:srgbClr val="D2A8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Raleway"/>
                <a:ea typeface="Raleway"/>
                <a:cs typeface="Raleway"/>
                <a:sym typeface="Raleway"/>
              </a:rPr>
              <a:t>Rare </a:t>
            </a:r>
            <a:r>
              <a:rPr b="1" lang="en">
                <a:solidFill>
                  <a:schemeClr val="dk1"/>
                </a:solidFill>
                <a:latin typeface="Raleway"/>
                <a:ea typeface="Raleway"/>
                <a:cs typeface="Raleway"/>
                <a:sym typeface="Raleway"/>
              </a:rPr>
              <a:t>Variants </a:t>
            </a:r>
            <a:endParaRPr b="1">
              <a:solidFill>
                <a:schemeClr val="dk1"/>
              </a:solidFill>
              <a:latin typeface="Raleway"/>
              <a:ea typeface="Raleway"/>
              <a:cs typeface="Raleway"/>
              <a:sym typeface="Raleway"/>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7"/>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Methods</a:t>
            </a:r>
            <a:endParaRPr b="1">
              <a:latin typeface="Raleway"/>
              <a:ea typeface="Raleway"/>
              <a:cs typeface="Raleway"/>
              <a:sym typeface="Raleway"/>
            </a:endParaRPr>
          </a:p>
        </p:txBody>
      </p:sp>
      <p:cxnSp>
        <p:nvCxnSpPr>
          <p:cNvPr id="103" name="Google Shape;103;p17"/>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sp>
        <p:nvSpPr>
          <p:cNvPr id="104" name="Google Shape;104;p17"/>
          <p:cNvSpPr/>
          <p:nvPr/>
        </p:nvSpPr>
        <p:spPr>
          <a:xfrm>
            <a:off x="244100" y="1182950"/>
            <a:ext cx="8641200" cy="15921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7"/>
          <p:cNvSpPr txBox="1"/>
          <p:nvPr/>
        </p:nvSpPr>
        <p:spPr>
          <a:xfrm>
            <a:off x="396050" y="1276750"/>
            <a:ext cx="7535400" cy="748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CD0568"/>
                </a:solidFill>
                <a:latin typeface="Raleway"/>
                <a:ea typeface="Raleway"/>
                <a:cs typeface="Raleway"/>
                <a:sym typeface="Raleway"/>
              </a:rPr>
              <a:t>ExWAS</a:t>
            </a:r>
            <a:endParaRPr b="1" sz="2000">
              <a:solidFill>
                <a:srgbClr val="CD0568"/>
              </a:solidFill>
              <a:latin typeface="Raleway"/>
              <a:ea typeface="Raleway"/>
              <a:cs typeface="Raleway"/>
              <a:sym typeface="Raleway"/>
            </a:endParaRPr>
          </a:p>
          <a:p>
            <a:pPr indent="-349250" lvl="0" marL="457200" rtl="0" algn="l">
              <a:spcBef>
                <a:spcPts val="0"/>
              </a:spcBef>
              <a:spcAft>
                <a:spcPts val="0"/>
              </a:spcAft>
              <a:buSzPts val="1900"/>
              <a:buChar char="●"/>
            </a:pPr>
            <a:r>
              <a:rPr lang="en" sz="1900"/>
              <a:t>Exome wide association study</a:t>
            </a:r>
            <a:endParaRPr sz="1900"/>
          </a:p>
          <a:p>
            <a:pPr indent="-349250" lvl="0" marL="457200" rtl="0" algn="l">
              <a:spcBef>
                <a:spcPts val="0"/>
              </a:spcBef>
              <a:spcAft>
                <a:spcPts val="0"/>
              </a:spcAft>
              <a:buSzPts val="1900"/>
              <a:buChar char="●"/>
            </a:pPr>
            <a:r>
              <a:rPr lang="en" sz="1900"/>
              <a:t>Look at </a:t>
            </a:r>
            <a:r>
              <a:rPr b="1" lang="en" sz="1900">
                <a:solidFill>
                  <a:schemeClr val="dk1"/>
                </a:solidFill>
              </a:rPr>
              <a:t>common variants</a:t>
            </a:r>
            <a:endParaRPr b="1" sz="1900">
              <a:solidFill>
                <a:schemeClr val="dk1"/>
              </a:solidFill>
            </a:endParaRPr>
          </a:p>
          <a:p>
            <a:pPr indent="0" lvl="0" marL="0" rtl="0" algn="l">
              <a:spcBef>
                <a:spcPts val="0"/>
              </a:spcBef>
              <a:spcAft>
                <a:spcPts val="0"/>
              </a:spcAft>
              <a:buNone/>
            </a:pPr>
            <a:r>
              <a:t/>
            </a:r>
            <a:endParaRPr/>
          </a:p>
        </p:txBody>
      </p:sp>
      <p:sp>
        <p:nvSpPr>
          <p:cNvPr id="106" name="Google Shape;106;p17"/>
          <p:cNvSpPr/>
          <p:nvPr/>
        </p:nvSpPr>
        <p:spPr>
          <a:xfrm>
            <a:off x="251400" y="3073475"/>
            <a:ext cx="8641200" cy="1592100"/>
          </a:xfrm>
          <a:prstGeom prst="roundRect">
            <a:avLst>
              <a:gd fmla="val 16667" name="adj"/>
            </a:avLst>
          </a:prstGeom>
          <a:solidFill>
            <a:srgbClr val="FFF2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7"/>
          <p:cNvSpPr txBox="1"/>
          <p:nvPr/>
        </p:nvSpPr>
        <p:spPr>
          <a:xfrm>
            <a:off x="396050" y="3148875"/>
            <a:ext cx="8436300" cy="1994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000">
                <a:solidFill>
                  <a:srgbClr val="CD0568"/>
                </a:solidFill>
                <a:latin typeface="Raleway"/>
                <a:ea typeface="Raleway"/>
                <a:cs typeface="Raleway"/>
                <a:sym typeface="Raleway"/>
              </a:rPr>
              <a:t>Rare Variant Analysis</a:t>
            </a:r>
            <a:endParaRPr b="1" sz="2000">
              <a:solidFill>
                <a:srgbClr val="CD0568"/>
              </a:solidFill>
              <a:latin typeface="Raleway"/>
              <a:ea typeface="Raleway"/>
              <a:cs typeface="Raleway"/>
              <a:sym typeface="Raleway"/>
            </a:endParaRPr>
          </a:p>
          <a:p>
            <a:pPr indent="-349250" lvl="0" marL="457200" rtl="0" algn="l">
              <a:spcBef>
                <a:spcPts val="0"/>
              </a:spcBef>
              <a:spcAft>
                <a:spcPts val="0"/>
              </a:spcAft>
              <a:buClr>
                <a:schemeClr val="dk1"/>
              </a:buClr>
              <a:buSzPts val="1900"/>
              <a:buChar char="●"/>
            </a:pPr>
            <a:r>
              <a:rPr lang="en" sz="1900">
                <a:solidFill>
                  <a:schemeClr val="dk1"/>
                </a:solidFill>
              </a:rPr>
              <a:t>Aggregate </a:t>
            </a:r>
            <a:r>
              <a:rPr b="1" lang="en" sz="1900">
                <a:solidFill>
                  <a:schemeClr val="dk1"/>
                </a:solidFill>
              </a:rPr>
              <a:t>rare coding variants</a:t>
            </a:r>
            <a:r>
              <a:rPr lang="en" sz="1900">
                <a:solidFill>
                  <a:schemeClr val="dk1"/>
                </a:solidFill>
              </a:rPr>
              <a:t> within genes </a:t>
            </a:r>
            <a:endParaRPr sz="1900">
              <a:solidFill>
                <a:schemeClr val="dk1"/>
              </a:solidFill>
            </a:endParaRPr>
          </a:p>
          <a:p>
            <a:pPr indent="-349250" lvl="0" marL="457200" rtl="0" algn="l">
              <a:spcBef>
                <a:spcPts val="0"/>
              </a:spcBef>
              <a:spcAft>
                <a:spcPts val="0"/>
              </a:spcAft>
              <a:buClr>
                <a:schemeClr val="dk1"/>
              </a:buClr>
              <a:buSzPts val="1900"/>
              <a:buChar char="●"/>
            </a:pPr>
            <a:r>
              <a:rPr lang="en" sz="1900">
                <a:solidFill>
                  <a:schemeClr val="dk1"/>
                </a:solidFill>
              </a:rPr>
              <a:t>Look for associations that may not be detected through single-variant testing of common variants.  </a:t>
            </a:r>
            <a:endParaRPr sz="1900">
              <a:solidFill>
                <a:schemeClr val="dk1"/>
              </a:solidFill>
            </a:endParaRPr>
          </a:p>
          <a:p>
            <a:pPr indent="0" lvl="0" marL="457200" rtl="0" algn="l">
              <a:spcBef>
                <a:spcPts val="0"/>
              </a:spcBef>
              <a:spcAft>
                <a:spcPts val="0"/>
              </a:spcAft>
              <a:buNone/>
            </a:pPr>
            <a:r>
              <a:t/>
            </a:r>
            <a:endParaRPr sz="19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8"/>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Methods</a:t>
            </a:r>
            <a:endParaRPr b="1">
              <a:latin typeface="Raleway"/>
              <a:ea typeface="Raleway"/>
              <a:cs typeface="Raleway"/>
              <a:sym typeface="Raleway"/>
            </a:endParaRPr>
          </a:p>
        </p:txBody>
      </p:sp>
      <p:cxnSp>
        <p:nvCxnSpPr>
          <p:cNvPr id="113" name="Google Shape;113;p18"/>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sp>
        <p:nvSpPr>
          <p:cNvPr id="114" name="Google Shape;114;p18"/>
          <p:cNvSpPr/>
          <p:nvPr/>
        </p:nvSpPr>
        <p:spPr>
          <a:xfrm>
            <a:off x="1192425" y="2086815"/>
            <a:ext cx="903600" cy="2898900"/>
          </a:xfrm>
          <a:prstGeom prst="roundRect">
            <a:avLst>
              <a:gd fmla="val 16667" name="adj"/>
            </a:avLst>
          </a:prstGeom>
          <a:solidFill>
            <a:srgbClr val="D2A8FF"/>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rPr b="1" lang="en" sz="984">
                <a:solidFill>
                  <a:srgbClr val="0C343D"/>
                </a:solidFill>
              </a:rPr>
              <a:t>Penn Medicine BioBank v4</a:t>
            </a:r>
            <a:endParaRPr b="1" sz="984">
              <a:solidFill>
                <a:srgbClr val="0C343D"/>
              </a:solidFill>
            </a:endParaRPr>
          </a:p>
        </p:txBody>
      </p:sp>
      <p:sp>
        <p:nvSpPr>
          <p:cNvPr id="115" name="Google Shape;115;p18"/>
          <p:cNvSpPr/>
          <p:nvPr/>
        </p:nvSpPr>
        <p:spPr>
          <a:xfrm rot="-5400000">
            <a:off x="2591054" y="4128708"/>
            <a:ext cx="314100" cy="326700"/>
          </a:xfrm>
          <a:prstGeom prst="downArrow">
            <a:avLst>
              <a:gd fmla="val 50000" name="adj1"/>
              <a:gd fmla="val 50000" name="adj2"/>
            </a:avLst>
          </a:prstGeom>
          <a:solidFill>
            <a:srgbClr val="CD0568"/>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t/>
            </a:r>
            <a:endParaRPr sz="345"/>
          </a:p>
        </p:txBody>
      </p:sp>
      <p:sp>
        <p:nvSpPr>
          <p:cNvPr id="116" name="Google Shape;116;p18"/>
          <p:cNvSpPr/>
          <p:nvPr/>
        </p:nvSpPr>
        <p:spPr>
          <a:xfrm>
            <a:off x="4153011" y="3720432"/>
            <a:ext cx="1502700" cy="1560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Cases</a:t>
            </a:r>
            <a:endParaRPr b="1" sz="1099">
              <a:solidFill>
                <a:srgbClr val="0C343D"/>
              </a:solidFill>
            </a:endParaRPr>
          </a:p>
        </p:txBody>
      </p:sp>
      <p:sp>
        <p:nvSpPr>
          <p:cNvPr id="117" name="Google Shape;117;p18"/>
          <p:cNvSpPr/>
          <p:nvPr/>
        </p:nvSpPr>
        <p:spPr>
          <a:xfrm>
            <a:off x="3636646" y="2136604"/>
            <a:ext cx="2048100" cy="314100"/>
          </a:xfrm>
          <a:prstGeom prst="roundRect">
            <a:avLst>
              <a:gd fmla="val 16667" name="adj"/>
            </a:avLst>
          </a:prstGeom>
          <a:solidFill>
            <a:srgbClr val="8CBC3D"/>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rPr b="1" lang="en" sz="984">
                <a:solidFill>
                  <a:srgbClr val="0C343D"/>
                </a:solidFill>
              </a:rPr>
              <a:t>Genotype Call Rate &gt; 0.99</a:t>
            </a:r>
            <a:endParaRPr b="1" sz="984">
              <a:solidFill>
                <a:srgbClr val="0C343D"/>
              </a:solidFill>
            </a:endParaRPr>
          </a:p>
        </p:txBody>
      </p:sp>
      <p:sp>
        <p:nvSpPr>
          <p:cNvPr id="118" name="Google Shape;118;p18"/>
          <p:cNvSpPr/>
          <p:nvPr/>
        </p:nvSpPr>
        <p:spPr>
          <a:xfrm>
            <a:off x="2981854" y="3715608"/>
            <a:ext cx="1095600" cy="3594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All Ancestry</a:t>
            </a:r>
            <a:endParaRPr b="1" sz="1099">
              <a:solidFill>
                <a:srgbClr val="0C343D"/>
              </a:solidFill>
            </a:endParaRPr>
          </a:p>
        </p:txBody>
      </p:sp>
      <p:sp>
        <p:nvSpPr>
          <p:cNvPr id="119" name="Google Shape;119;p18"/>
          <p:cNvSpPr/>
          <p:nvPr/>
        </p:nvSpPr>
        <p:spPr>
          <a:xfrm>
            <a:off x="2981854" y="4110460"/>
            <a:ext cx="1095600" cy="3594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African Ancestry</a:t>
            </a:r>
            <a:endParaRPr b="1" sz="1099">
              <a:solidFill>
                <a:srgbClr val="0C343D"/>
              </a:solidFill>
            </a:endParaRPr>
          </a:p>
        </p:txBody>
      </p:sp>
      <p:sp>
        <p:nvSpPr>
          <p:cNvPr id="120" name="Google Shape;120;p18"/>
          <p:cNvSpPr/>
          <p:nvPr/>
        </p:nvSpPr>
        <p:spPr>
          <a:xfrm>
            <a:off x="2981854" y="4505306"/>
            <a:ext cx="1095600" cy="3594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European Ancestry</a:t>
            </a:r>
            <a:endParaRPr b="1" sz="1099">
              <a:solidFill>
                <a:srgbClr val="0C343D"/>
              </a:solidFill>
            </a:endParaRPr>
          </a:p>
        </p:txBody>
      </p:sp>
      <p:sp>
        <p:nvSpPr>
          <p:cNvPr id="121" name="Google Shape;121;p18"/>
          <p:cNvSpPr/>
          <p:nvPr/>
        </p:nvSpPr>
        <p:spPr>
          <a:xfrm>
            <a:off x="4157063" y="3904638"/>
            <a:ext cx="1502700" cy="1560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Controls</a:t>
            </a:r>
            <a:endParaRPr b="1" sz="1099">
              <a:solidFill>
                <a:srgbClr val="0C343D"/>
              </a:solidFill>
            </a:endParaRPr>
          </a:p>
        </p:txBody>
      </p:sp>
      <p:sp>
        <p:nvSpPr>
          <p:cNvPr id="122" name="Google Shape;122;p18"/>
          <p:cNvSpPr/>
          <p:nvPr/>
        </p:nvSpPr>
        <p:spPr>
          <a:xfrm>
            <a:off x="4144635" y="4107062"/>
            <a:ext cx="1502700" cy="1560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Cases</a:t>
            </a:r>
            <a:endParaRPr b="1" sz="1099">
              <a:solidFill>
                <a:srgbClr val="0C343D"/>
              </a:solidFill>
            </a:endParaRPr>
          </a:p>
        </p:txBody>
      </p:sp>
      <p:sp>
        <p:nvSpPr>
          <p:cNvPr id="123" name="Google Shape;123;p18"/>
          <p:cNvSpPr/>
          <p:nvPr/>
        </p:nvSpPr>
        <p:spPr>
          <a:xfrm>
            <a:off x="4148686" y="4291268"/>
            <a:ext cx="1502700" cy="1560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Controls</a:t>
            </a:r>
            <a:endParaRPr b="1" sz="1099">
              <a:solidFill>
                <a:srgbClr val="0C343D"/>
              </a:solidFill>
            </a:endParaRPr>
          </a:p>
        </p:txBody>
      </p:sp>
      <p:sp>
        <p:nvSpPr>
          <p:cNvPr id="124" name="Google Shape;124;p18"/>
          <p:cNvSpPr/>
          <p:nvPr/>
        </p:nvSpPr>
        <p:spPr>
          <a:xfrm>
            <a:off x="4142779" y="4519800"/>
            <a:ext cx="1502700" cy="1560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Cases</a:t>
            </a:r>
            <a:endParaRPr b="1" sz="1099">
              <a:solidFill>
                <a:srgbClr val="0C343D"/>
              </a:solidFill>
            </a:endParaRPr>
          </a:p>
        </p:txBody>
      </p:sp>
      <p:sp>
        <p:nvSpPr>
          <p:cNvPr id="125" name="Google Shape;125;p18"/>
          <p:cNvSpPr/>
          <p:nvPr/>
        </p:nvSpPr>
        <p:spPr>
          <a:xfrm>
            <a:off x="4140309" y="4704006"/>
            <a:ext cx="1502700" cy="1560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Controls</a:t>
            </a:r>
            <a:endParaRPr b="1" sz="1099">
              <a:solidFill>
                <a:srgbClr val="0C343D"/>
              </a:solidFill>
            </a:endParaRPr>
          </a:p>
        </p:txBody>
      </p:sp>
      <p:sp>
        <p:nvSpPr>
          <p:cNvPr id="126" name="Google Shape;126;p18"/>
          <p:cNvSpPr/>
          <p:nvPr/>
        </p:nvSpPr>
        <p:spPr>
          <a:xfrm>
            <a:off x="3624541" y="2499687"/>
            <a:ext cx="2048100" cy="285300"/>
          </a:xfrm>
          <a:prstGeom prst="roundRect">
            <a:avLst>
              <a:gd fmla="val 16667" name="adj"/>
            </a:avLst>
          </a:prstGeom>
          <a:solidFill>
            <a:srgbClr val="8CBC3D"/>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rPr b="1" lang="en" sz="984">
                <a:solidFill>
                  <a:srgbClr val="0C343D"/>
                </a:solidFill>
              </a:rPr>
              <a:t>MAF</a:t>
            </a:r>
            <a:r>
              <a:rPr b="1" lang="en" sz="984">
                <a:solidFill>
                  <a:srgbClr val="0C343D"/>
                </a:solidFill>
              </a:rPr>
              <a:t> &gt; 0.01</a:t>
            </a:r>
            <a:endParaRPr b="1" sz="984">
              <a:solidFill>
                <a:srgbClr val="0C343D"/>
              </a:solidFill>
            </a:endParaRPr>
          </a:p>
        </p:txBody>
      </p:sp>
      <p:sp>
        <p:nvSpPr>
          <p:cNvPr id="127" name="Google Shape;127;p18"/>
          <p:cNvSpPr/>
          <p:nvPr/>
        </p:nvSpPr>
        <p:spPr>
          <a:xfrm>
            <a:off x="7120655" y="2216557"/>
            <a:ext cx="1045200" cy="2745300"/>
          </a:xfrm>
          <a:prstGeom prst="roundRect">
            <a:avLst>
              <a:gd fmla="val 16667" name="adj"/>
            </a:avLst>
          </a:prstGeom>
          <a:solidFill>
            <a:srgbClr val="66C2C5"/>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rPr b="1" lang="en" sz="984">
                <a:solidFill>
                  <a:srgbClr val="0C343D"/>
                </a:solidFill>
              </a:rPr>
              <a:t>Data Visualization </a:t>
            </a:r>
            <a:endParaRPr b="1" sz="984">
              <a:solidFill>
                <a:srgbClr val="0C343D"/>
              </a:solidFill>
            </a:endParaRPr>
          </a:p>
        </p:txBody>
      </p:sp>
      <p:sp>
        <p:nvSpPr>
          <p:cNvPr id="128" name="Google Shape;128;p18"/>
          <p:cNvSpPr txBox="1"/>
          <p:nvPr/>
        </p:nvSpPr>
        <p:spPr>
          <a:xfrm>
            <a:off x="6039163" y="2086888"/>
            <a:ext cx="547200" cy="298200"/>
          </a:xfrm>
          <a:prstGeom prst="rect">
            <a:avLst/>
          </a:prstGeom>
          <a:noFill/>
          <a:ln>
            <a:noFill/>
          </a:ln>
        </p:spPr>
        <p:txBody>
          <a:bodyPr anchorCtr="0" anchor="t" bIns="33350" lIns="33350" spcFirstLastPara="1" rIns="33350" wrap="square" tIns="33350">
            <a:noAutofit/>
          </a:bodyPr>
          <a:lstStyle/>
          <a:p>
            <a:pPr indent="0" lvl="0" marL="0" rtl="0" algn="l">
              <a:spcBef>
                <a:spcPts val="0"/>
              </a:spcBef>
              <a:spcAft>
                <a:spcPts val="0"/>
              </a:spcAft>
              <a:buNone/>
            </a:pPr>
            <a:r>
              <a:rPr b="1" lang="en" sz="1022"/>
              <a:t>SAIGE</a:t>
            </a:r>
            <a:endParaRPr b="1" sz="1022"/>
          </a:p>
        </p:txBody>
      </p:sp>
      <p:sp>
        <p:nvSpPr>
          <p:cNvPr id="129" name="Google Shape;129;p18"/>
          <p:cNvSpPr/>
          <p:nvPr/>
        </p:nvSpPr>
        <p:spPr>
          <a:xfrm rot="-5400000">
            <a:off x="2558743" y="2318064"/>
            <a:ext cx="314100" cy="326700"/>
          </a:xfrm>
          <a:prstGeom prst="downArrow">
            <a:avLst>
              <a:gd fmla="val 50000" name="adj1"/>
              <a:gd fmla="val 50000" name="adj2"/>
            </a:avLst>
          </a:prstGeom>
          <a:solidFill>
            <a:srgbClr val="CD0568"/>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t/>
            </a:r>
            <a:endParaRPr sz="345"/>
          </a:p>
        </p:txBody>
      </p:sp>
      <p:sp>
        <p:nvSpPr>
          <p:cNvPr id="130" name="Google Shape;130;p18"/>
          <p:cNvSpPr/>
          <p:nvPr/>
        </p:nvSpPr>
        <p:spPr>
          <a:xfrm rot="-5400000">
            <a:off x="1554491" y="2696933"/>
            <a:ext cx="1505700" cy="285300"/>
          </a:xfrm>
          <a:prstGeom prst="roundRect">
            <a:avLst>
              <a:gd fmla="val 16667" name="adj"/>
            </a:avLst>
          </a:prstGeom>
          <a:solidFill>
            <a:srgbClr val="D2A8FF"/>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rPr b="1" lang="en" sz="984">
                <a:solidFill>
                  <a:srgbClr val="0C343D"/>
                </a:solidFill>
              </a:rPr>
              <a:t>Variants</a:t>
            </a:r>
            <a:endParaRPr b="1" sz="984">
              <a:solidFill>
                <a:srgbClr val="0C343D"/>
              </a:solidFill>
            </a:endParaRPr>
          </a:p>
        </p:txBody>
      </p:sp>
      <p:sp>
        <p:nvSpPr>
          <p:cNvPr id="131" name="Google Shape;131;p18"/>
          <p:cNvSpPr/>
          <p:nvPr/>
        </p:nvSpPr>
        <p:spPr>
          <a:xfrm rot="-5400000">
            <a:off x="1674046" y="4196008"/>
            <a:ext cx="1246200" cy="285300"/>
          </a:xfrm>
          <a:prstGeom prst="roundRect">
            <a:avLst>
              <a:gd fmla="val 16667" name="adj"/>
            </a:avLst>
          </a:prstGeom>
          <a:solidFill>
            <a:srgbClr val="D2A8FF"/>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rPr b="1" lang="en" sz="984">
                <a:solidFill>
                  <a:srgbClr val="0C343D"/>
                </a:solidFill>
              </a:rPr>
              <a:t>Participants</a:t>
            </a:r>
            <a:endParaRPr b="1" sz="984">
              <a:solidFill>
                <a:srgbClr val="0C343D"/>
              </a:solidFill>
            </a:endParaRPr>
          </a:p>
        </p:txBody>
      </p:sp>
      <p:sp>
        <p:nvSpPr>
          <p:cNvPr id="132" name="Google Shape;132;p18"/>
          <p:cNvSpPr/>
          <p:nvPr/>
        </p:nvSpPr>
        <p:spPr>
          <a:xfrm>
            <a:off x="3642699" y="2851050"/>
            <a:ext cx="2048100" cy="314100"/>
          </a:xfrm>
          <a:prstGeom prst="roundRect">
            <a:avLst>
              <a:gd fmla="val 16667" name="adj"/>
            </a:avLst>
          </a:prstGeom>
          <a:solidFill>
            <a:srgbClr val="8CBC3D"/>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rPr b="1" lang="en" sz="984">
                <a:solidFill>
                  <a:srgbClr val="0C343D"/>
                </a:solidFill>
              </a:rPr>
              <a:t>Genotype Call Rate &gt; 0.99</a:t>
            </a:r>
            <a:endParaRPr b="1" sz="984">
              <a:solidFill>
                <a:srgbClr val="0C343D"/>
              </a:solidFill>
            </a:endParaRPr>
          </a:p>
        </p:txBody>
      </p:sp>
      <p:sp>
        <p:nvSpPr>
          <p:cNvPr id="133" name="Google Shape;133;p18"/>
          <p:cNvSpPr/>
          <p:nvPr/>
        </p:nvSpPr>
        <p:spPr>
          <a:xfrm>
            <a:off x="3630593" y="3214133"/>
            <a:ext cx="2048100" cy="285300"/>
          </a:xfrm>
          <a:prstGeom prst="roundRect">
            <a:avLst>
              <a:gd fmla="val 16667" name="adj"/>
            </a:avLst>
          </a:prstGeom>
          <a:solidFill>
            <a:srgbClr val="8CBC3D"/>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rPr b="1" lang="en" sz="984">
                <a:solidFill>
                  <a:srgbClr val="0C343D"/>
                </a:solidFill>
              </a:rPr>
              <a:t>MAF</a:t>
            </a:r>
            <a:r>
              <a:rPr b="1" lang="en" sz="984">
                <a:solidFill>
                  <a:srgbClr val="0C343D"/>
                </a:solidFill>
              </a:rPr>
              <a:t> =&lt; 0.01, 0.001, 0.0001</a:t>
            </a:r>
            <a:endParaRPr b="1" sz="984">
              <a:solidFill>
                <a:srgbClr val="0C343D"/>
              </a:solidFill>
            </a:endParaRPr>
          </a:p>
        </p:txBody>
      </p:sp>
      <p:sp>
        <p:nvSpPr>
          <p:cNvPr id="134" name="Google Shape;134;p18"/>
          <p:cNvSpPr/>
          <p:nvPr/>
        </p:nvSpPr>
        <p:spPr>
          <a:xfrm rot="-5400000">
            <a:off x="2558743" y="3007407"/>
            <a:ext cx="314100" cy="326700"/>
          </a:xfrm>
          <a:prstGeom prst="downArrow">
            <a:avLst>
              <a:gd fmla="val 50000" name="adj1"/>
              <a:gd fmla="val 50000" name="adj2"/>
            </a:avLst>
          </a:prstGeom>
          <a:solidFill>
            <a:srgbClr val="CD0568"/>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t/>
            </a:r>
            <a:endParaRPr sz="345"/>
          </a:p>
        </p:txBody>
      </p:sp>
      <p:sp>
        <p:nvSpPr>
          <p:cNvPr id="135" name="Google Shape;135;p18"/>
          <p:cNvSpPr/>
          <p:nvPr/>
        </p:nvSpPr>
        <p:spPr>
          <a:xfrm>
            <a:off x="2918241" y="2138921"/>
            <a:ext cx="667200" cy="6702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1099">
                <a:solidFill>
                  <a:srgbClr val="0C343D"/>
                </a:solidFill>
              </a:rPr>
              <a:t>ExWAS</a:t>
            </a:r>
            <a:endParaRPr b="1" sz="1099">
              <a:solidFill>
                <a:srgbClr val="0C343D"/>
              </a:solidFill>
            </a:endParaRPr>
          </a:p>
        </p:txBody>
      </p:sp>
      <p:sp>
        <p:nvSpPr>
          <p:cNvPr id="136" name="Google Shape;136;p18"/>
          <p:cNvSpPr/>
          <p:nvPr/>
        </p:nvSpPr>
        <p:spPr>
          <a:xfrm>
            <a:off x="2927321" y="2843030"/>
            <a:ext cx="667200" cy="670200"/>
          </a:xfrm>
          <a:prstGeom prst="roundRect">
            <a:avLst>
              <a:gd fmla="val 16667" name="adj"/>
            </a:avLst>
          </a:prstGeom>
          <a:solidFill>
            <a:srgbClr val="8CBC3D"/>
          </a:solidFill>
          <a:ln>
            <a:noFill/>
          </a:ln>
        </p:spPr>
        <p:txBody>
          <a:bodyPr anchorCtr="0" anchor="ctr" bIns="27150" lIns="27150" spcFirstLastPara="1" rIns="27150" wrap="square" tIns="27150">
            <a:noAutofit/>
          </a:bodyPr>
          <a:lstStyle/>
          <a:p>
            <a:pPr indent="0" lvl="0" marL="0" rtl="0" algn="ctr">
              <a:spcBef>
                <a:spcPts val="0"/>
              </a:spcBef>
              <a:spcAft>
                <a:spcPts val="0"/>
              </a:spcAft>
              <a:buNone/>
            </a:pPr>
            <a:r>
              <a:rPr b="1" lang="en" sz="855">
                <a:solidFill>
                  <a:srgbClr val="0C343D"/>
                </a:solidFill>
              </a:rPr>
              <a:t>Rare Variant Gene Burden</a:t>
            </a:r>
            <a:endParaRPr b="1" sz="855">
              <a:solidFill>
                <a:srgbClr val="0C343D"/>
              </a:solidFill>
            </a:endParaRPr>
          </a:p>
        </p:txBody>
      </p:sp>
      <p:sp>
        <p:nvSpPr>
          <p:cNvPr id="137" name="Google Shape;137;p18"/>
          <p:cNvSpPr/>
          <p:nvPr/>
        </p:nvSpPr>
        <p:spPr>
          <a:xfrm rot="-5400000">
            <a:off x="6245677" y="1868278"/>
            <a:ext cx="314100" cy="1211400"/>
          </a:xfrm>
          <a:prstGeom prst="downArrow">
            <a:avLst>
              <a:gd fmla="val 50000" name="adj1"/>
              <a:gd fmla="val 50000" name="adj2"/>
            </a:avLst>
          </a:prstGeom>
          <a:solidFill>
            <a:srgbClr val="CD0568"/>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t/>
            </a:r>
            <a:endParaRPr sz="345"/>
          </a:p>
        </p:txBody>
      </p:sp>
      <p:sp>
        <p:nvSpPr>
          <p:cNvPr id="138" name="Google Shape;138;p18"/>
          <p:cNvSpPr/>
          <p:nvPr/>
        </p:nvSpPr>
        <p:spPr>
          <a:xfrm rot="-5400000">
            <a:off x="6245677" y="2572388"/>
            <a:ext cx="314100" cy="1211400"/>
          </a:xfrm>
          <a:prstGeom prst="downArrow">
            <a:avLst>
              <a:gd fmla="val 50000" name="adj1"/>
              <a:gd fmla="val 50000" name="adj2"/>
            </a:avLst>
          </a:prstGeom>
          <a:solidFill>
            <a:srgbClr val="CD0568"/>
          </a:solidFill>
          <a:ln>
            <a:noFill/>
          </a:ln>
        </p:spPr>
        <p:txBody>
          <a:bodyPr anchorCtr="0" anchor="ctr" bIns="22525" lIns="22525" spcFirstLastPara="1" rIns="22525" wrap="square" tIns="22525">
            <a:noAutofit/>
          </a:bodyPr>
          <a:lstStyle/>
          <a:p>
            <a:pPr indent="0" lvl="0" marL="0" rtl="0" algn="ctr">
              <a:spcBef>
                <a:spcPts val="0"/>
              </a:spcBef>
              <a:spcAft>
                <a:spcPts val="0"/>
              </a:spcAft>
              <a:buNone/>
            </a:pPr>
            <a:r>
              <a:t/>
            </a:r>
            <a:endParaRPr sz="345"/>
          </a:p>
        </p:txBody>
      </p:sp>
      <p:sp>
        <p:nvSpPr>
          <p:cNvPr id="139" name="Google Shape;139;p18"/>
          <p:cNvSpPr txBox="1"/>
          <p:nvPr/>
        </p:nvSpPr>
        <p:spPr>
          <a:xfrm>
            <a:off x="5880132" y="2775898"/>
            <a:ext cx="1045200" cy="298200"/>
          </a:xfrm>
          <a:prstGeom prst="rect">
            <a:avLst/>
          </a:prstGeom>
          <a:noFill/>
          <a:ln>
            <a:noFill/>
          </a:ln>
        </p:spPr>
        <p:txBody>
          <a:bodyPr anchorCtr="0" anchor="t" bIns="33350" lIns="33350" spcFirstLastPara="1" rIns="33350" wrap="square" tIns="33350">
            <a:noAutofit/>
          </a:bodyPr>
          <a:lstStyle/>
          <a:p>
            <a:pPr indent="0" lvl="0" marL="0" rtl="0" algn="l">
              <a:spcBef>
                <a:spcPts val="0"/>
              </a:spcBef>
              <a:spcAft>
                <a:spcPts val="0"/>
              </a:spcAft>
              <a:buNone/>
            </a:pPr>
            <a:r>
              <a:rPr b="1" lang="en" sz="1022"/>
              <a:t>SAIGE-GENE</a:t>
            </a:r>
            <a:endParaRPr b="1" sz="1022"/>
          </a:p>
        </p:txBody>
      </p:sp>
      <p:sp>
        <p:nvSpPr>
          <p:cNvPr id="140" name="Google Shape;140;p18"/>
          <p:cNvSpPr txBox="1"/>
          <p:nvPr/>
        </p:nvSpPr>
        <p:spPr>
          <a:xfrm>
            <a:off x="302675" y="946893"/>
            <a:ext cx="8520600" cy="572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SzPts val="1500"/>
              <a:buChar char="●"/>
            </a:pPr>
            <a:r>
              <a:rPr b="1" lang="en" sz="1500"/>
              <a:t>Phenotype Definition</a:t>
            </a:r>
            <a:r>
              <a:rPr b="1" lang="en" sz="1500"/>
              <a:t>:</a:t>
            </a:r>
            <a:r>
              <a:rPr lang="en" sz="1500"/>
              <a:t> H90, H91, H93</a:t>
            </a:r>
            <a:endParaRPr sz="1500"/>
          </a:p>
          <a:p>
            <a:pPr indent="-323850" lvl="0" marL="457200" rtl="0" algn="l">
              <a:spcBef>
                <a:spcPts val="0"/>
              </a:spcBef>
              <a:spcAft>
                <a:spcPts val="0"/>
              </a:spcAft>
              <a:buClr>
                <a:schemeClr val="dk1"/>
              </a:buClr>
              <a:buSzPts val="1500"/>
              <a:buChar char="●"/>
            </a:pPr>
            <a:r>
              <a:rPr b="1" lang="en" sz="1500">
                <a:solidFill>
                  <a:schemeClr val="dk1"/>
                </a:solidFill>
              </a:rPr>
              <a:t>Quality Control and Minor Allele Filtering</a:t>
            </a:r>
            <a:endParaRPr b="1" sz="1500">
              <a:solidFill>
                <a:schemeClr val="dk1"/>
              </a:solidFill>
            </a:endParaRPr>
          </a:p>
          <a:p>
            <a:pPr indent="-323850" lvl="0" marL="457200" rtl="0" algn="l">
              <a:spcBef>
                <a:spcPts val="0"/>
              </a:spcBef>
              <a:spcAft>
                <a:spcPts val="0"/>
              </a:spcAft>
              <a:buClr>
                <a:schemeClr val="dk1"/>
              </a:buClr>
              <a:buSzPts val="1500"/>
              <a:buChar char="●"/>
            </a:pPr>
            <a:r>
              <a:rPr b="1" lang="en" sz="1500"/>
              <a:t>Covariates:</a:t>
            </a:r>
            <a:r>
              <a:rPr lang="en" sz="1500"/>
              <a:t> Covariates age, age², sex, and principal components (PCs) were included for adjustment</a:t>
            </a:r>
            <a:endParaRPr sz="1500"/>
          </a:p>
          <a:p>
            <a:pPr indent="0" lvl="0" marL="457200" rtl="0" algn="l">
              <a:spcBef>
                <a:spcPts val="0"/>
              </a:spcBef>
              <a:spcAft>
                <a:spcPts val="0"/>
              </a:spcAft>
              <a:buNone/>
            </a:pPr>
            <a:r>
              <a:t/>
            </a:r>
            <a:endParaRPr sz="15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19"/>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Results: ExWAS</a:t>
            </a:r>
            <a:endParaRPr b="1">
              <a:latin typeface="Raleway"/>
              <a:ea typeface="Raleway"/>
              <a:cs typeface="Raleway"/>
              <a:sym typeface="Raleway"/>
            </a:endParaRPr>
          </a:p>
        </p:txBody>
      </p:sp>
      <p:cxnSp>
        <p:nvCxnSpPr>
          <p:cNvPr id="146" name="Google Shape;146;p19"/>
          <p:cNvCxnSpPr/>
          <p:nvPr/>
        </p:nvCxnSpPr>
        <p:spPr>
          <a:xfrm>
            <a:off x="242382" y="877025"/>
            <a:ext cx="3964200" cy="5100"/>
          </a:xfrm>
          <a:prstGeom prst="straightConnector1">
            <a:avLst/>
          </a:prstGeom>
          <a:noFill/>
          <a:ln cap="flat" cmpd="sng" w="38100">
            <a:solidFill>
              <a:srgbClr val="CD0568"/>
            </a:solidFill>
            <a:prstDash val="solid"/>
            <a:round/>
            <a:headEnd len="med" w="med" type="none"/>
            <a:tailEnd len="med" w="med" type="none"/>
          </a:ln>
        </p:spPr>
      </p:cxnSp>
      <p:pic>
        <p:nvPicPr>
          <p:cNvPr id="147" name="Google Shape;147;p19" title="Manhattan_EUR_Full_1line.png"/>
          <p:cNvPicPr preferRelativeResize="0"/>
          <p:nvPr/>
        </p:nvPicPr>
        <p:blipFill rotWithShape="1">
          <a:blip r:embed="rId3">
            <a:alphaModFix/>
          </a:blip>
          <a:srcRect b="0" l="0" r="0" t="0"/>
          <a:stretch/>
        </p:blipFill>
        <p:spPr>
          <a:xfrm>
            <a:off x="417685" y="3736622"/>
            <a:ext cx="2654568" cy="1327284"/>
          </a:xfrm>
          <a:prstGeom prst="rect">
            <a:avLst/>
          </a:prstGeom>
          <a:noFill/>
          <a:ln>
            <a:noFill/>
          </a:ln>
        </p:spPr>
      </p:pic>
      <p:pic>
        <p:nvPicPr>
          <p:cNvPr id="148" name="Google Shape;148;p19" title="Manhattan_combined_Full_1line.png"/>
          <p:cNvPicPr preferRelativeResize="0"/>
          <p:nvPr/>
        </p:nvPicPr>
        <p:blipFill rotWithShape="1">
          <a:blip r:embed="rId4">
            <a:alphaModFix/>
          </a:blip>
          <a:srcRect b="0" l="0" r="0" t="0"/>
          <a:stretch/>
        </p:blipFill>
        <p:spPr>
          <a:xfrm>
            <a:off x="385050" y="1089186"/>
            <a:ext cx="2654568" cy="1327284"/>
          </a:xfrm>
          <a:prstGeom prst="rect">
            <a:avLst/>
          </a:prstGeom>
          <a:noFill/>
          <a:ln>
            <a:noFill/>
          </a:ln>
        </p:spPr>
      </p:pic>
      <p:pic>
        <p:nvPicPr>
          <p:cNvPr id="149" name="Google Shape;149;p19" title="Manhattan_AFR_Full_1line.png"/>
          <p:cNvPicPr preferRelativeResize="0"/>
          <p:nvPr/>
        </p:nvPicPr>
        <p:blipFill rotWithShape="1">
          <a:blip r:embed="rId5">
            <a:alphaModFix/>
          </a:blip>
          <a:srcRect b="0" l="0" r="0" t="0"/>
          <a:stretch/>
        </p:blipFill>
        <p:spPr>
          <a:xfrm>
            <a:off x="417682" y="2398791"/>
            <a:ext cx="2654568" cy="1327284"/>
          </a:xfrm>
          <a:prstGeom prst="rect">
            <a:avLst/>
          </a:prstGeom>
          <a:noFill/>
          <a:ln>
            <a:noFill/>
          </a:ln>
        </p:spPr>
      </p:pic>
      <p:pic>
        <p:nvPicPr>
          <p:cNvPr id="150" name="Google Shape;150;p19" title="QQ_EUR_MAC10.png"/>
          <p:cNvPicPr preferRelativeResize="0"/>
          <p:nvPr/>
        </p:nvPicPr>
        <p:blipFill>
          <a:blip r:embed="rId6">
            <a:alphaModFix/>
          </a:blip>
          <a:stretch>
            <a:fillRect/>
          </a:stretch>
        </p:blipFill>
        <p:spPr>
          <a:xfrm>
            <a:off x="3028260" y="3736625"/>
            <a:ext cx="1180116" cy="1180116"/>
          </a:xfrm>
          <a:prstGeom prst="rect">
            <a:avLst/>
          </a:prstGeom>
          <a:noFill/>
          <a:ln>
            <a:noFill/>
          </a:ln>
        </p:spPr>
      </p:pic>
      <p:pic>
        <p:nvPicPr>
          <p:cNvPr id="151" name="Google Shape;151;p19" title="QQ_combined_MAC10.png"/>
          <p:cNvPicPr preferRelativeResize="0"/>
          <p:nvPr/>
        </p:nvPicPr>
        <p:blipFill>
          <a:blip r:embed="rId7">
            <a:alphaModFix/>
          </a:blip>
          <a:stretch>
            <a:fillRect/>
          </a:stretch>
        </p:blipFill>
        <p:spPr>
          <a:xfrm>
            <a:off x="3030786" y="1106889"/>
            <a:ext cx="1180116" cy="1180116"/>
          </a:xfrm>
          <a:prstGeom prst="rect">
            <a:avLst/>
          </a:prstGeom>
          <a:noFill/>
          <a:ln>
            <a:noFill/>
          </a:ln>
        </p:spPr>
      </p:pic>
      <p:pic>
        <p:nvPicPr>
          <p:cNvPr id="152" name="Google Shape;152;p19" title="QQ_AFR_MAC10.png"/>
          <p:cNvPicPr preferRelativeResize="0"/>
          <p:nvPr/>
        </p:nvPicPr>
        <p:blipFill>
          <a:blip r:embed="rId8">
            <a:alphaModFix/>
          </a:blip>
          <a:stretch>
            <a:fillRect/>
          </a:stretch>
        </p:blipFill>
        <p:spPr>
          <a:xfrm>
            <a:off x="3042509" y="2403627"/>
            <a:ext cx="1180116" cy="1180116"/>
          </a:xfrm>
          <a:prstGeom prst="rect">
            <a:avLst/>
          </a:prstGeom>
          <a:noFill/>
          <a:ln>
            <a:noFill/>
          </a:ln>
        </p:spPr>
      </p:pic>
      <p:graphicFrame>
        <p:nvGraphicFramePr>
          <p:cNvPr id="153" name="Google Shape;153;p19"/>
          <p:cNvGraphicFramePr/>
          <p:nvPr/>
        </p:nvGraphicFramePr>
        <p:xfrm>
          <a:off x="4749378" y="437688"/>
          <a:ext cx="3000000" cy="3000000"/>
        </p:xfrm>
        <a:graphic>
          <a:graphicData uri="http://schemas.openxmlformats.org/drawingml/2006/table">
            <a:tbl>
              <a:tblPr>
                <a:noFill/>
                <a:tableStyleId>{AFEEB983-ABB0-4D2F-B1C9-87526AB2DE86}</a:tableStyleId>
              </a:tblPr>
              <a:tblGrid>
                <a:gridCol w="884050"/>
                <a:gridCol w="1000375"/>
                <a:gridCol w="1062600"/>
                <a:gridCol w="1062600"/>
              </a:tblGrid>
              <a:tr h="977225">
                <a:tc gridSpan="4">
                  <a:txBody>
                    <a:bodyPr/>
                    <a:lstStyle/>
                    <a:p>
                      <a:pPr indent="0" lvl="0" marL="0" rtl="0" algn="ctr">
                        <a:spcBef>
                          <a:spcPts val="0"/>
                        </a:spcBef>
                        <a:spcAft>
                          <a:spcPts val="0"/>
                        </a:spcAft>
                        <a:buNone/>
                      </a:pPr>
                      <a:r>
                        <a:rPr b="1" lang="en" sz="1800">
                          <a:latin typeface="Raleway"/>
                          <a:ea typeface="Raleway"/>
                          <a:cs typeface="Raleway"/>
                          <a:sym typeface="Raleway"/>
                        </a:rPr>
                        <a:t>Exome</a:t>
                      </a:r>
                      <a:r>
                        <a:rPr b="1" lang="en" sz="1800">
                          <a:latin typeface="Raleway"/>
                          <a:ea typeface="Raleway"/>
                          <a:cs typeface="Raleway"/>
                          <a:sym typeface="Raleway"/>
                        </a:rPr>
                        <a:t> Wide Significant Results</a:t>
                      </a:r>
                      <a:endParaRPr b="1" sz="1800">
                        <a:latin typeface="Raleway"/>
                        <a:ea typeface="Raleway"/>
                        <a:cs typeface="Raleway"/>
                        <a:sym typeface="Raleway"/>
                      </a:endParaRPr>
                    </a:p>
                    <a:p>
                      <a:pPr indent="0" lvl="0" marL="0" rtl="0" algn="l">
                        <a:spcBef>
                          <a:spcPts val="0"/>
                        </a:spcBef>
                        <a:spcAft>
                          <a:spcPts val="0"/>
                        </a:spcAft>
                        <a:buNone/>
                      </a:pPr>
                      <a:r>
                        <a:rPr b="1" lang="en" sz="1600">
                          <a:latin typeface="Raleway"/>
                          <a:ea typeface="Raleway"/>
                          <a:cs typeface="Raleway"/>
                          <a:sym typeface="Raleway"/>
                        </a:rPr>
                        <a:t>Total: 6 </a:t>
                      </a:r>
                      <a:endParaRPr b="1" sz="1600">
                        <a:latin typeface="Raleway"/>
                        <a:ea typeface="Raleway"/>
                        <a:cs typeface="Raleway"/>
                        <a:sym typeface="Raleway"/>
                      </a:endParaRPr>
                    </a:p>
                    <a:p>
                      <a:pPr indent="0" lvl="0" marL="0" rtl="0" algn="l">
                        <a:spcBef>
                          <a:spcPts val="0"/>
                        </a:spcBef>
                        <a:spcAft>
                          <a:spcPts val="0"/>
                        </a:spcAft>
                        <a:buNone/>
                      </a:pPr>
                      <a:r>
                        <a:rPr b="1" lang="en" sz="1600">
                          <a:latin typeface="Raleway"/>
                          <a:ea typeface="Raleway"/>
                          <a:cs typeface="Raleway"/>
                          <a:sym typeface="Raleway"/>
                        </a:rPr>
                        <a:t>Unique: 3</a:t>
                      </a:r>
                      <a:endParaRPr b="1" sz="1600">
                        <a:latin typeface="Raleway"/>
                        <a:ea typeface="Raleway"/>
                        <a:cs typeface="Raleway"/>
                        <a:sym typeface="Raleway"/>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hMerge="1"/>
                <a:tc hMerge="1"/>
                <a:tc hMerge="1"/>
              </a:tr>
              <a:tr h="380550">
                <a:tc>
                  <a:txBody>
                    <a:bodyPr/>
                    <a:lstStyle/>
                    <a:p>
                      <a:pPr indent="0" lvl="0" marL="0" rtl="0" algn="l">
                        <a:spcBef>
                          <a:spcPts val="0"/>
                        </a:spcBef>
                        <a:spcAft>
                          <a:spcPts val="0"/>
                        </a:spcAft>
                        <a:buNone/>
                      </a:pPr>
                      <a:r>
                        <a:rPr b="1" lang="en"/>
                        <a:t>Gene</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Variant</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Cohort</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P-Value</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468400">
                <a:tc>
                  <a:txBody>
                    <a:bodyPr/>
                    <a:lstStyle/>
                    <a:p>
                      <a:pPr indent="0" lvl="0" marL="0" rtl="0" algn="l">
                        <a:spcBef>
                          <a:spcPts val="0"/>
                        </a:spcBef>
                        <a:spcAft>
                          <a:spcPts val="0"/>
                        </a:spcAft>
                        <a:buNone/>
                      </a:pPr>
                      <a:r>
                        <a:rPr i="1" lang="en"/>
                        <a:t>KNL1</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c>
                  <a:txBody>
                    <a:bodyPr/>
                    <a:lstStyle/>
                    <a:p>
                      <a:pPr indent="0" lvl="0" marL="0" rtl="0" algn="l">
                        <a:spcBef>
                          <a:spcPts val="0"/>
                        </a:spcBef>
                        <a:spcAft>
                          <a:spcPts val="0"/>
                        </a:spcAft>
                        <a:buNone/>
                      </a:pPr>
                      <a:r>
                        <a:rPr lang="en" sz="1000"/>
                        <a:t>chr15:40611486:A:G</a:t>
                      </a:r>
                      <a:endParaRPr sz="10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c>
                  <a:txBody>
                    <a:bodyPr/>
                    <a:lstStyle/>
                    <a:p>
                      <a:pPr indent="0" lvl="0" marL="0" rtl="0" algn="l">
                        <a:spcBef>
                          <a:spcPts val="0"/>
                        </a:spcBef>
                        <a:spcAft>
                          <a:spcPts val="0"/>
                        </a:spcAft>
                        <a:buNone/>
                      </a:pPr>
                      <a:r>
                        <a:rPr lang="en" sz="1300"/>
                        <a:t>Combined</a:t>
                      </a:r>
                      <a:endParaRPr sz="13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c>
                  <a:txBody>
                    <a:bodyPr/>
                    <a:lstStyle/>
                    <a:p>
                      <a:pPr indent="0" lvl="0" marL="0" rtl="0" algn="l">
                        <a:spcBef>
                          <a:spcPts val="0"/>
                        </a:spcBef>
                        <a:spcAft>
                          <a:spcPts val="0"/>
                        </a:spcAft>
                        <a:buNone/>
                      </a:pPr>
                      <a:r>
                        <a:rPr lang="en"/>
                        <a:t>3.51e-12</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r>
              <a:tr h="468400">
                <a:tc>
                  <a:txBody>
                    <a:bodyPr/>
                    <a:lstStyle/>
                    <a:p>
                      <a:pPr indent="0" lvl="0" marL="0" rtl="0" algn="l">
                        <a:spcBef>
                          <a:spcPts val="0"/>
                        </a:spcBef>
                        <a:spcAft>
                          <a:spcPts val="0"/>
                        </a:spcAft>
                        <a:buNone/>
                      </a:pPr>
                      <a:r>
                        <a:rPr i="1" lang="en"/>
                        <a:t>KNL1</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c>
                  <a:txBody>
                    <a:bodyPr/>
                    <a:lstStyle/>
                    <a:p>
                      <a:pPr indent="0" lvl="0" marL="0" rtl="0" algn="l">
                        <a:spcBef>
                          <a:spcPts val="0"/>
                        </a:spcBef>
                        <a:spcAft>
                          <a:spcPts val="0"/>
                        </a:spcAft>
                        <a:buNone/>
                      </a:pPr>
                      <a:r>
                        <a:rPr lang="en" sz="1000"/>
                        <a:t>chr15:40611486:A:G</a:t>
                      </a:r>
                      <a:endParaRPr sz="10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c>
                  <a:txBody>
                    <a:bodyPr/>
                    <a:lstStyle/>
                    <a:p>
                      <a:pPr indent="0" lvl="0" marL="0" rtl="0" algn="l">
                        <a:spcBef>
                          <a:spcPts val="0"/>
                        </a:spcBef>
                        <a:spcAft>
                          <a:spcPts val="0"/>
                        </a:spcAft>
                        <a:buNone/>
                      </a:pPr>
                      <a:r>
                        <a:rPr lang="en" sz="1300"/>
                        <a:t>EUR</a:t>
                      </a:r>
                      <a:endParaRPr sz="13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c>
                  <a:txBody>
                    <a:bodyPr/>
                    <a:lstStyle/>
                    <a:p>
                      <a:pPr indent="0" lvl="0" marL="0" rtl="0" algn="l">
                        <a:spcBef>
                          <a:spcPts val="0"/>
                        </a:spcBef>
                        <a:spcAft>
                          <a:spcPts val="0"/>
                        </a:spcAft>
                        <a:buNone/>
                      </a:pPr>
                      <a:r>
                        <a:rPr lang="en"/>
                        <a:t>7.21e-12</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r>
              <a:tr h="468400">
                <a:tc>
                  <a:txBody>
                    <a:bodyPr/>
                    <a:lstStyle/>
                    <a:p>
                      <a:pPr indent="0" lvl="0" marL="0" rtl="0" algn="l">
                        <a:spcBef>
                          <a:spcPts val="0"/>
                        </a:spcBef>
                        <a:spcAft>
                          <a:spcPts val="0"/>
                        </a:spcAft>
                        <a:buNone/>
                      </a:pPr>
                      <a:r>
                        <a:rPr i="1" lang="en"/>
                        <a:t>ZFPM1</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1000"/>
                        <a:t>chr16:88533289:A:C</a:t>
                      </a:r>
                      <a:endParaRPr sz="10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1300"/>
                        <a:t>EUR</a:t>
                      </a:r>
                      <a:endParaRPr sz="13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a:t>2.46e-10</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r>
              <a:tr h="468400">
                <a:tc>
                  <a:txBody>
                    <a:bodyPr/>
                    <a:lstStyle/>
                    <a:p>
                      <a:pPr indent="0" lvl="0" marL="0" rtl="0" algn="l">
                        <a:spcBef>
                          <a:spcPts val="0"/>
                        </a:spcBef>
                        <a:spcAft>
                          <a:spcPts val="0"/>
                        </a:spcAft>
                        <a:buClr>
                          <a:srgbClr val="000000"/>
                        </a:buClr>
                        <a:buSzPts val="1100"/>
                        <a:buFont typeface="Arial"/>
                        <a:buNone/>
                      </a:pPr>
                      <a:r>
                        <a:rPr i="1" lang="en">
                          <a:solidFill>
                            <a:srgbClr val="000000"/>
                          </a:solidFill>
                        </a:rPr>
                        <a:t>ZFPM1</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1000">
                          <a:solidFill>
                            <a:srgbClr val="000000"/>
                          </a:solidFill>
                        </a:rPr>
                        <a:t>chr16:88533290:G:C</a:t>
                      </a:r>
                      <a:endParaRPr sz="1000">
                        <a:solidFill>
                          <a:srgbClr val="000000"/>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1300"/>
                        <a:t>EUR</a:t>
                      </a:r>
                      <a:endParaRPr sz="13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a:t>2.52e-10</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EDDEFD"/>
                    </a:solidFill>
                  </a:tcPr>
                </a:tc>
              </a:tr>
              <a:tr h="468400">
                <a:tc>
                  <a:txBody>
                    <a:bodyPr/>
                    <a:lstStyle/>
                    <a:p>
                      <a:pPr indent="0" lvl="0" marL="0" rtl="0" algn="l">
                        <a:spcBef>
                          <a:spcPts val="0"/>
                        </a:spcBef>
                        <a:spcAft>
                          <a:spcPts val="0"/>
                        </a:spcAft>
                        <a:buClr>
                          <a:srgbClr val="000000"/>
                        </a:buClr>
                        <a:buSzPts val="1100"/>
                        <a:buFont typeface="Arial"/>
                        <a:buNone/>
                      </a:pPr>
                      <a:r>
                        <a:rPr i="1" lang="en">
                          <a:solidFill>
                            <a:srgbClr val="000000"/>
                          </a:solidFill>
                        </a:rPr>
                        <a:t>ZFPM1</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1000">
                          <a:solidFill>
                            <a:srgbClr val="000000"/>
                          </a:solidFill>
                        </a:rPr>
                        <a:t>chr16:88533290:G:C</a:t>
                      </a:r>
                      <a:endParaRPr sz="1000">
                        <a:solidFill>
                          <a:srgbClr val="000000"/>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sz="1300"/>
                        <a:t>Combined</a:t>
                      </a:r>
                      <a:endParaRPr sz="13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EDDEFD"/>
                    </a:solidFill>
                  </a:tcPr>
                </a:tc>
                <a:tc>
                  <a:txBody>
                    <a:bodyPr/>
                    <a:lstStyle/>
                    <a:p>
                      <a:pPr indent="0" lvl="0" marL="0" rtl="0" algn="l">
                        <a:spcBef>
                          <a:spcPts val="0"/>
                        </a:spcBef>
                        <a:spcAft>
                          <a:spcPts val="0"/>
                        </a:spcAft>
                        <a:buNone/>
                      </a:pPr>
                      <a:r>
                        <a:rPr lang="en"/>
                        <a:t>4.54e-9</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EDDEFD"/>
                    </a:solidFill>
                  </a:tcPr>
                </a:tc>
              </a:tr>
              <a:tr h="556200">
                <a:tc>
                  <a:txBody>
                    <a:bodyPr/>
                    <a:lstStyle/>
                    <a:p>
                      <a:pPr indent="0" lvl="0" marL="0" rtl="0" algn="l">
                        <a:spcBef>
                          <a:spcPts val="0"/>
                        </a:spcBef>
                        <a:spcAft>
                          <a:spcPts val="0"/>
                        </a:spcAft>
                        <a:buClr>
                          <a:srgbClr val="000000"/>
                        </a:buClr>
                        <a:buSzPts val="1100"/>
                        <a:buFont typeface="Arial"/>
                        <a:buNone/>
                      </a:pPr>
                      <a:r>
                        <a:rPr i="1" lang="en">
                          <a:solidFill>
                            <a:srgbClr val="000000"/>
                          </a:solidFill>
                        </a:rPr>
                        <a:t>ZFPM1</a:t>
                      </a:r>
                      <a:endParaRPr i="1">
                        <a:solidFill>
                          <a:srgbClr val="000000"/>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sz="1000">
                          <a:solidFill>
                            <a:srgbClr val="000000"/>
                          </a:solidFill>
                        </a:rPr>
                        <a:t>chr16:88533289:A:C</a:t>
                      </a:r>
                      <a:endParaRPr sz="1000">
                        <a:solidFill>
                          <a:srgbClr val="000000"/>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c>
                  <a:txBody>
                    <a:bodyPr/>
                    <a:lstStyle/>
                    <a:p>
                      <a:pPr indent="0" lvl="0" marL="0" rtl="0" algn="l">
                        <a:spcBef>
                          <a:spcPts val="0"/>
                        </a:spcBef>
                        <a:spcAft>
                          <a:spcPts val="0"/>
                        </a:spcAft>
                        <a:buClr>
                          <a:srgbClr val="000000"/>
                        </a:buClr>
                        <a:buSzPts val="1100"/>
                        <a:buFont typeface="Arial"/>
                        <a:buNone/>
                      </a:pPr>
                      <a:r>
                        <a:rPr lang="en" sz="1300">
                          <a:solidFill>
                            <a:srgbClr val="000000"/>
                          </a:solidFill>
                        </a:rPr>
                        <a:t>Combined</a:t>
                      </a:r>
                      <a:endParaRPr sz="1300">
                        <a:solidFill>
                          <a:srgbClr val="000000"/>
                        </a:solidFill>
                      </a:endParaRPr>
                    </a:p>
                    <a:p>
                      <a:pPr indent="0" lvl="0" marL="0" rtl="0" algn="l">
                        <a:spcBef>
                          <a:spcPts val="0"/>
                        </a:spcBef>
                        <a:spcAft>
                          <a:spcPts val="0"/>
                        </a:spcAft>
                        <a:buNone/>
                      </a:pPr>
                      <a:r>
                        <a:t/>
                      </a:r>
                      <a:endParaRPr sz="1300"/>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c>
                  <a:txBody>
                    <a:bodyPr/>
                    <a:lstStyle/>
                    <a:p>
                      <a:pPr indent="0" lvl="0" marL="0" rtl="0" algn="l">
                        <a:spcBef>
                          <a:spcPts val="0"/>
                        </a:spcBef>
                        <a:spcAft>
                          <a:spcPts val="0"/>
                        </a:spcAft>
                        <a:buNone/>
                      </a:pPr>
                      <a:r>
                        <a:rPr lang="en"/>
                        <a:t>6.18e-9</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r>
            </a:tbl>
          </a:graphicData>
        </a:graphic>
      </p:graphicFrame>
      <p:sp>
        <p:nvSpPr>
          <p:cNvPr id="154" name="Google Shape;154;p19"/>
          <p:cNvSpPr/>
          <p:nvPr/>
        </p:nvSpPr>
        <p:spPr>
          <a:xfrm rot="1231369">
            <a:off x="2538747" y="1188872"/>
            <a:ext cx="242170" cy="341187"/>
          </a:xfrm>
          <a:prstGeom prst="downArrow">
            <a:avLst>
              <a:gd fmla="val 50000" name="adj1"/>
              <a:gd fmla="val 50000" name="adj2"/>
            </a:avLst>
          </a:prstGeom>
          <a:solidFill>
            <a:srgbClr val="FFF2CC"/>
          </a:solidFill>
          <a:ln cap="flat" cmpd="sng" w="19050">
            <a:solidFill>
              <a:srgbClr val="CD05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5" name="Google Shape;155;p19"/>
          <p:cNvSpPr/>
          <p:nvPr/>
        </p:nvSpPr>
        <p:spPr>
          <a:xfrm rot="3596273">
            <a:off x="2638414" y="1308260"/>
            <a:ext cx="241946" cy="341151"/>
          </a:xfrm>
          <a:prstGeom prst="downArrow">
            <a:avLst>
              <a:gd fmla="val 50000" name="adj1"/>
              <a:gd fmla="val 50000" name="adj2"/>
            </a:avLst>
          </a:prstGeom>
          <a:solidFill>
            <a:srgbClr val="EDDEFD"/>
          </a:solidFill>
          <a:ln cap="flat" cmpd="sng" w="19050">
            <a:solidFill>
              <a:srgbClr val="CD05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19"/>
          <p:cNvSpPr/>
          <p:nvPr/>
        </p:nvSpPr>
        <p:spPr>
          <a:xfrm rot="1231369">
            <a:off x="2571047" y="3757672"/>
            <a:ext cx="242170" cy="341187"/>
          </a:xfrm>
          <a:prstGeom prst="downArrow">
            <a:avLst>
              <a:gd fmla="val 50000" name="adj1"/>
              <a:gd fmla="val 50000" name="adj2"/>
            </a:avLst>
          </a:prstGeom>
          <a:solidFill>
            <a:srgbClr val="FFF2CC"/>
          </a:solidFill>
          <a:ln cap="flat" cmpd="sng" w="19050">
            <a:solidFill>
              <a:srgbClr val="CD05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19"/>
          <p:cNvSpPr/>
          <p:nvPr/>
        </p:nvSpPr>
        <p:spPr>
          <a:xfrm rot="3596273">
            <a:off x="2670714" y="3877060"/>
            <a:ext cx="241946" cy="341151"/>
          </a:xfrm>
          <a:prstGeom prst="downArrow">
            <a:avLst>
              <a:gd fmla="val 50000" name="adj1"/>
              <a:gd fmla="val 50000" name="adj2"/>
            </a:avLst>
          </a:prstGeom>
          <a:solidFill>
            <a:srgbClr val="EDDEFD"/>
          </a:solidFill>
          <a:ln cap="flat" cmpd="sng" w="19050">
            <a:solidFill>
              <a:srgbClr val="CD05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8" name="Google Shape;158;p19"/>
          <p:cNvSpPr txBox="1"/>
          <p:nvPr/>
        </p:nvSpPr>
        <p:spPr>
          <a:xfrm>
            <a:off x="1038675" y="1055149"/>
            <a:ext cx="1449300" cy="2619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aleway"/>
                <a:ea typeface="Raleway"/>
                <a:cs typeface="Raleway"/>
                <a:sym typeface="Raleway"/>
              </a:rPr>
              <a:t>Combined</a:t>
            </a:r>
            <a:endParaRPr b="1" sz="1200">
              <a:latin typeface="Raleway"/>
              <a:ea typeface="Raleway"/>
              <a:cs typeface="Raleway"/>
              <a:sym typeface="Raleway"/>
            </a:endParaRPr>
          </a:p>
        </p:txBody>
      </p:sp>
      <p:sp>
        <p:nvSpPr>
          <p:cNvPr id="159" name="Google Shape;159;p19"/>
          <p:cNvSpPr/>
          <p:nvPr/>
        </p:nvSpPr>
        <p:spPr>
          <a:xfrm>
            <a:off x="2339598" y="975925"/>
            <a:ext cx="242100" cy="341100"/>
          </a:xfrm>
          <a:prstGeom prst="downArrow">
            <a:avLst>
              <a:gd fmla="val 50000" name="adj1"/>
              <a:gd fmla="val 50000" name="adj2"/>
            </a:avLst>
          </a:prstGeom>
          <a:solidFill>
            <a:srgbClr val="FFD8D8"/>
          </a:solidFill>
          <a:ln cap="flat" cmpd="sng" w="19050">
            <a:solidFill>
              <a:srgbClr val="CD05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0" name="Google Shape;160;p19"/>
          <p:cNvSpPr txBox="1"/>
          <p:nvPr/>
        </p:nvSpPr>
        <p:spPr>
          <a:xfrm>
            <a:off x="1070950" y="2416671"/>
            <a:ext cx="1449300" cy="20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aleway"/>
                <a:ea typeface="Raleway"/>
                <a:cs typeface="Raleway"/>
                <a:sym typeface="Raleway"/>
              </a:rPr>
              <a:t>AFR</a:t>
            </a:r>
            <a:endParaRPr b="1" sz="1200">
              <a:latin typeface="Raleway"/>
              <a:ea typeface="Raleway"/>
              <a:cs typeface="Raleway"/>
              <a:sym typeface="Raleway"/>
            </a:endParaRPr>
          </a:p>
        </p:txBody>
      </p:sp>
      <p:sp>
        <p:nvSpPr>
          <p:cNvPr id="161" name="Google Shape;161;p19"/>
          <p:cNvSpPr txBox="1"/>
          <p:nvPr/>
        </p:nvSpPr>
        <p:spPr>
          <a:xfrm>
            <a:off x="1105800" y="3709418"/>
            <a:ext cx="1449300" cy="202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latin typeface="Raleway"/>
                <a:ea typeface="Raleway"/>
                <a:cs typeface="Raleway"/>
                <a:sym typeface="Raleway"/>
              </a:rPr>
              <a:t>EUR</a:t>
            </a:r>
            <a:endParaRPr b="1" sz="1200">
              <a:latin typeface="Raleway"/>
              <a:ea typeface="Raleway"/>
              <a:cs typeface="Raleway"/>
              <a:sym typeface="Raleway"/>
            </a:endParaRPr>
          </a:p>
        </p:txBody>
      </p:sp>
      <p:sp>
        <p:nvSpPr>
          <p:cNvPr id="162" name="Google Shape;162;p19"/>
          <p:cNvSpPr/>
          <p:nvPr/>
        </p:nvSpPr>
        <p:spPr>
          <a:xfrm>
            <a:off x="2373410" y="3633850"/>
            <a:ext cx="242100" cy="341100"/>
          </a:xfrm>
          <a:prstGeom prst="downArrow">
            <a:avLst>
              <a:gd fmla="val 50000" name="adj1"/>
              <a:gd fmla="val 50000" name="adj2"/>
            </a:avLst>
          </a:prstGeom>
          <a:solidFill>
            <a:srgbClr val="FFD8D8"/>
          </a:solidFill>
          <a:ln cap="flat" cmpd="sng" w="19050">
            <a:solidFill>
              <a:srgbClr val="CD056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9"/>
                                        </p:tgtEl>
                                        <p:attrNameLst>
                                          <p:attrName>style.visibility</p:attrName>
                                        </p:attrNameLst>
                                      </p:cBhvr>
                                      <p:to>
                                        <p:strVal val="visible"/>
                                      </p:to>
                                    </p:set>
                                    <p:animEffect filter="fade" transition="in">
                                      <p:cBhvr>
                                        <p:cTn dur="1000"/>
                                        <p:tgtEl>
                                          <p:spTgt spid="159"/>
                                        </p:tgtEl>
                                      </p:cBhvr>
                                    </p:animEffect>
                                  </p:childTnLst>
                                </p:cTn>
                              </p:par>
                              <p:par>
                                <p:cTn fill="hold" nodeType="withEffect" presetClass="entr" presetID="10" presetSubtype="0">
                                  <p:stCondLst>
                                    <p:cond delay="0"/>
                                  </p:stCondLst>
                                  <p:childTnLst>
                                    <p:set>
                                      <p:cBhvr>
                                        <p:cTn dur="1" fill="hold">
                                          <p:stCondLst>
                                            <p:cond delay="0"/>
                                          </p:stCondLst>
                                        </p:cTn>
                                        <p:tgtEl>
                                          <p:spTgt spid="162"/>
                                        </p:tgtEl>
                                        <p:attrNameLst>
                                          <p:attrName>style.visibility</p:attrName>
                                        </p:attrNameLst>
                                      </p:cBhvr>
                                      <p:to>
                                        <p:strVal val="visible"/>
                                      </p:to>
                                    </p:set>
                                    <p:animEffect filter="fade" transition="in">
                                      <p:cBhvr>
                                        <p:cTn dur="1000"/>
                                        <p:tgtEl>
                                          <p:spTgt spid="1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4"/>
                                        </p:tgtEl>
                                        <p:attrNameLst>
                                          <p:attrName>style.visibility</p:attrName>
                                        </p:attrNameLst>
                                      </p:cBhvr>
                                      <p:to>
                                        <p:strVal val="visible"/>
                                      </p:to>
                                    </p:set>
                                    <p:animEffect filter="fade" transition="in">
                                      <p:cBhvr>
                                        <p:cTn dur="1000"/>
                                        <p:tgtEl>
                                          <p:spTgt spid="154"/>
                                        </p:tgtEl>
                                      </p:cBhvr>
                                    </p:animEffect>
                                  </p:childTnLst>
                                </p:cTn>
                              </p:par>
                              <p:par>
                                <p:cTn fill="hold" nodeType="withEffect" presetClass="entr" presetID="10" presetSubtype="0">
                                  <p:stCondLst>
                                    <p:cond delay="0"/>
                                  </p:stCondLst>
                                  <p:childTnLst>
                                    <p:set>
                                      <p:cBhvr>
                                        <p:cTn dur="1" fill="hold">
                                          <p:stCondLst>
                                            <p:cond delay="0"/>
                                          </p:stCondLst>
                                        </p:cTn>
                                        <p:tgtEl>
                                          <p:spTgt spid="156"/>
                                        </p:tgtEl>
                                        <p:attrNameLst>
                                          <p:attrName>style.visibility</p:attrName>
                                        </p:attrNameLst>
                                      </p:cBhvr>
                                      <p:to>
                                        <p:strVal val="visible"/>
                                      </p:to>
                                    </p:set>
                                    <p:animEffect filter="fade" transition="in">
                                      <p:cBhvr>
                                        <p:cTn dur="1000"/>
                                        <p:tgtEl>
                                          <p:spTgt spid="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par>
                                <p:cTn fill="hold" nodeType="with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0"/>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Results: Rare Variant Gene Burden</a:t>
            </a:r>
            <a:endParaRPr b="1">
              <a:latin typeface="Raleway"/>
              <a:ea typeface="Raleway"/>
              <a:cs typeface="Raleway"/>
              <a:sym typeface="Raleway"/>
            </a:endParaRPr>
          </a:p>
        </p:txBody>
      </p:sp>
      <p:cxnSp>
        <p:nvCxnSpPr>
          <p:cNvPr id="168" name="Google Shape;168;p20"/>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graphicFrame>
        <p:nvGraphicFramePr>
          <p:cNvPr id="169" name="Google Shape;169;p20"/>
          <p:cNvGraphicFramePr/>
          <p:nvPr/>
        </p:nvGraphicFramePr>
        <p:xfrm>
          <a:off x="273645" y="1118178"/>
          <a:ext cx="3000000" cy="3000000"/>
        </p:xfrm>
        <a:graphic>
          <a:graphicData uri="http://schemas.openxmlformats.org/drawingml/2006/table">
            <a:tbl>
              <a:tblPr>
                <a:noFill/>
                <a:tableStyleId>{AFEEB983-ABB0-4D2F-B1C9-87526AB2DE86}</a:tableStyleId>
              </a:tblPr>
              <a:tblGrid>
                <a:gridCol w="1159325"/>
                <a:gridCol w="1125400"/>
                <a:gridCol w="1247175"/>
                <a:gridCol w="1247175"/>
                <a:gridCol w="1247175"/>
                <a:gridCol w="1184600"/>
                <a:gridCol w="1309750"/>
              </a:tblGrid>
              <a:tr h="262375">
                <a:tc gridSpan="7">
                  <a:txBody>
                    <a:bodyPr/>
                    <a:lstStyle/>
                    <a:p>
                      <a:pPr indent="0" lvl="0" marL="0" rtl="0" algn="l">
                        <a:spcBef>
                          <a:spcPts val="0"/>
                        </a:spcBef>
                        <a:spcAft>
                          <a:spcPts val="0"/>
                        </a:spcAft>
                        <a:buNone/>
                      </a:pPr>
                      <a:r>
                        <a:rPr b="1" lang="en" sz="1800">
                          <a:latin typeface="Raleway"/>
                          <a:ea typeface="Raleway"/>
                          <a:cs typeface="Raleway"/>
                          <a:sym typeface="Raleway"/>
                        </a:rPr>
                        <a:t>Hearing Loss, Bonferroni Significant  </a:t>
                      </a:r>
                      <a:endParaRPr b="1" sz="1800">
                        <a:latin typeface="Raleway"/>
                        <a:ea typeface="Raleway"/>
                        <a:cs typeface="Raleway"/>
                        <a:sym typeface="Raleway"/>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D8D8"/>
                    </a:solidFill>
                  </a:tcPr>
                </a:tc>
                <a:tc hMerge="1"/>
                <a:tc hMerge="1"/>
                <a:tc hMerge="1"/>
                <a:tc hMerge="1"/>
                <a:tc hMerge="1"/>
                <a:tc hMerge="1"/>
              </a:tr>
              <a:tr h="201150">
                <a:tc>
                  <a:txBody>
                    <a:bodyPr/>
                    <a:lstStyle/>
                    <a:p>
                      <a:pPr indent="0" lvl="0" marL="0" rtl="0" algn="l">
                        <a:spcBef>
                          <a:spcPts val="0"/>
                        </a:spcBef>
                        <a:spcAft>
                          <a:spcPts val="0"/>
                        </a:spcAft>
                        <a:buNone/>
                      </a:pPr>
                      <a:r>
                        <a:rPr b="1" lang="en"/>
                        <a:t>Gene</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Ancestry</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Mask</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MAF</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Test</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Raw P</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b="1" lang="en"/>
                        <a:t>Bonferroni P</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b="1" i="1" lang="en"/>
                        <a:t>AARS1</a:t>
                      </a:r>
                      <a:endParaRPr b="1"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AFR</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ALL</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Burden </a:t>
                      </a:r>
                      <a:endParaRPr>
                        <a:solidFill>
                          <a:schemeClr val="dk1"/>
                        </a:solidFill>
                      </a:endParaRPr>
                    </a:p>
                    <a:p>
                      <a:pPr indent="0" lvl="0" marL="0" rtl="0" algn="l">
                        <a:spcBef>
                          <a:spcPts val="0"/>
                        </a:spcBef>
                        <a:spcAft>
                          <a:spcPts val="0"/>
                        </a:spcAft>
                        <a:buNone/>
                      </a:pPr>
                      <a:r>
                        <a:rPr lang="en">
                          <a:solidFill>
                            <a:schemeClr val="dk1"/>
                          </a:solidFill>
                        </a:rPr>
                        <a:t>(</a:t>
                      </a:r>
                      <a:r>
                        <a:rPr lang="en">
                          <a:solidFill>
                            <a:schemeClr val="dk1"/>
                          </a:solidFill>
                          <a:latin typeface="Roboto"/>
                          <a:ea typeface="Roboto"/>
                          <a:cs typeface="Roboto"/>
                          <a:sym typeface="Roboto"/>
                        </a:rPr>
                        <a:t>β</a:t>
                      </a:r>
                      <a:r>
                        <a:rPr lang="en">
                          <a:solidFill>
                            <a:schemeClr val="dk1"/>
                          </a:solidFill>
                        </a:rPr>
                        <a:t> </a:t>
                      </a:r>
                      <a:r>
                        <a:rPr lang="en" sz="1100">
                          <a:solidFill>
                            <a:schemeClr val="dk1"/>
                          </a:solidFill>
                        </a:rPr>
                        <a:t>= </a:t>
                      </a:r>
                      <a:r>
                        <a:rPr lang="en">
                          <a:solidFill>
                            <a:schemeClr val="dk1"/>
                          </a:solidFill>
                        </a:rPr>
                        <a:t>0.153)</a:t>
                      </a:r>
                      <a:endParaRPr>
                        <a:solidFill>
                          <a:schemeClr val="dk1"/>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1.94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0.01263</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i="1" lang="en"/>
                        <a:t>PRIMPOL</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EUR</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ALL</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Burden </a:t>
                      </a:r>
                      <a:endParaRPr>
                        <a:solidFill>
                          <a:schemeClr val="dk1"/>
                        </a:solidFill>
                      </a:endParaRPr>
                    </a:p>
                    <a:p>
                      <a:pPr indent="0" lvl="0" marL="0" rtl="0" algn="l">
                        <a:spcBef>
                          <a:spcPts val="0"/>
                        </a:spcBef>
                        <a:spcAft>
                          <a:spcPts val="0"/>
                        </a:spcAft>
                        <a:buNone/>
                      </a:pPr>
                      <a:r>
                        <a:rPr lang="en">
                          <a:solidFill>
                            <a:schemeClr val="dk1"/>
                          </a:solidFill>
                        </a:rPr>
                        <a:t>(</a:t>
                      </a:r>
                      <a:r>
                        <a:rPr lang="en">
                          <a:solidFill>
                            <a:schemeClr val="dk1"/>
                          </a:solidFill>
                          <a:latin typeface="Roboto"/>
                          <a:ea typeface="Roboto"/>
                          <a:cs typeface="Roboto"/>
                          <a:sym typeface="Roboto"/>
                        </a:rPr>
                        <a:t>β</a:t>
                      </a:r>
                      <a:r>
                        <a:rPr lang="en">
                          <a:solidFill>
                            <a:schemeClr val="dk1"/>
                          </a:solidFill>
                        </a:rPr>
                        <a:t> </a:t>
                      </a:r>
                      <a:r>
                        <a:rPr lang="en" sz="1100">
                          <a:solidFill>
                            <a:schemeClr val="dk1"/>
                          </a:solidFill>
                        </a:rPr>
                        <a:t>= </a:t>
                      </a:r>
                      <a:r>
                        <a:rPr lang="en">
                          <a:solidFill>
                            <a:schemeClr val="dk1"/>
                          </a:solidFill>
                        </a:rPr>
                        <a:t>-0.372)</a:t>
                      </a:r>
                      <a:endParaRPr>
                        <a:solidFill>
                          <a:schemeClr val="dk1"/>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1.91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0.01494</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i="1" lang="en"/>
                        <a:t>ACVR2B</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Combined</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ALL</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Burden </a:t>
                      </a:r>
                      <a:endParaRPr>
                        <a:solidFill>
                          <a:schemeClr val="dk1"/>
                        </a:solidFill>
                      </a:endParaRPr>
                    </a:p>
                    <a:p>
                      <a:pPr indent="0" lvl="0" marL="0" rtl="0" algn="l">
                        <a:spcBef>
                          <a:spcPts val="0"/>
                        </a:spcBef>
                        <a:spcAft>
                          <a:spcPts val="0"/>
                        </a:spcAft>
                        <a:buNone/>
                      </a:pPr>
                      <a:r>
                        <a:rPr lang="en">
                          <a:solidFill>
                            <a:schemeClr val="dk1"/>
                          </a:solidFill>
                        </a:rPr>
                        <a:t>(</a:t>
                      </a:r>
                      <a:r>
                        <a:rPr lang="en">
                          <a:solidFill>
                            <a:schemeClr val="dk1"/>
                          </a:solidFill>
                          <a:latin typeface="Roboto"/>
                          <a:ea typeface="Roboto"/>
                          <a:cs typeface="Roboto"/>
                          <a:sym typeface="Roboto"/>
                        </a:rPr>
                        <a:t>β</a:t>
                      </a:r>
                      <a:r>
                        <a:rPr lang="en">
                          <a:solidFill>
                            <a:schemeClr val="dk1"/>
                          </a:solidFill>
                        </a:rPr>
                        <a:t> </a:t>
                      </a:r>
                      <a:r>
                        <a:rPr lang="en" sz="1100">
                          <a:solidFill>
                            <a:schemeClr val="dk1"/>
                          </a:solidFill>
                        </a:rPr>
                        <a:t>= </a:t>
                      </a:r>
                      <a:r>
                        <a:rPr lang="en">
                          <a:solidFill>
                            <a:schemeClr val="dk1"/>
                          </a:solidFill>
                        </a:rPr>
                        <a:t>0.331)</a:t>
                      </a:r>
                      <a:endParaRPr>
                        <a:solidFill>
                          <a:schemeClr val="dk1"/>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3.72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0.01657</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i="1" lang="en"/>
                        <a:t>TMC3-AS1</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Combined</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pLOF</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SKAT</a:t>
                      </a:r>
                      <a:endParaRPr>
                        <a:solidFill>
                          <a:schemeClr val="dk1"/>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3.20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0.02299</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i="1" lang="en"/>
                        <a:t>IGSF9</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AFR</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pLOF+pDM</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solidFill>
                            <a:schemeClr val="dk1"/>
                          </a:solidFill>
                        </a:rPr>
                        <a:t>Burden </a:t>
                      </a:r>
                      <a:endParaRPr>
                        <a:solidFill>
                          <a:schemeClr val="dk1"/>
                        </a:solidFill>
                      </a:endParaRPr>
                    </a:p>
                    <a:p>
                      <a:pPr indent="0" lvl="0" marL="0" rtl="0" algn="l">
                        <a:spcBef>
                          <a:spcPts val="0"/>
                        </a:spcBef>
                        <a:spcAft>
                          <a:spcPts val="0"/>
                        </a:spcAft>
                        <a:buNone/>
                      </a:pPr>
                      <a:r>
                        <a:rPr lang="en">
                          <a:solidFill>
                            <a:schemeClr val="dk1"/>
                          </a:solidFill>
                        </a:rPr>
                        <a:t>(</a:t>
                      </a:r>
                      <a:r>
                        <a:rPr lang="en">
                          <a:solidFill>
                            <a:schemeClr val="dk1"/>
                          </a:solidFill>
                          <a:latin typeface="Roboto"/>
                          <a:ea typeface="Roboto"/>
                          <a:cs typeface="Roboto"/>
                          <a:sym typeface="Roboto"/>
                        </a:rPr>
                        <a:t>β</a:t>
                      </a:r>
                      <a:r>
                        <a:rPr lang="en">
                          <a:solidFill>
                            <a:schemeClr val="dk1"/>
                          </a:solidFill>
                        </a:rPr>
                        <a:t> </a:t>
                      </a:r>
                      <a:r>
                        <a:rPr lang="en" sz="1100">
                          <a:solidFill>
                            <a:schemeClr val="dk1"/>
                          </a:solidFill>
                        </a:rPr>
                        <a:t>= </a:t>
                      </a:r>
                      <a:r>
                        <a:rPr lang="en">
                          <a:solidFill>
                            <a:schemeClr val="dk1"/>
                          </a:solidFill>
                        </a:rPr>
                        <a:t>1.385)</a:t>
                      </a:r>
                      <a:endParaRPr>
                        <a:solidFill>
                          <a:schemeClr val="dk1"/>
                        </a:solidFill>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4.91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0.04181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1"/>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Results: Rare Variant Gene Burden</a:t>
            </a:r>
            <a:endParaRPr b="1">
              <a:latin typeface="Raleway"/>
              <a:ea typeface="Raleway"/>
              <a:cs typeface="Raleway"/>
              <a:sym typeface="Raleway"/>
            </a:endParaRPr>
          </a:p>
        </p:txBody>
      </p:sp>
      <p:cxnSp>
        <p:nvCxnSpPr>
          <p:cNvPr id="175" name="Google Shape;175;p21"/>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graphicFrame>
        <p:nvGraphicFramePr>
          <p:cNvPr id="176" name="Google Shape;176;p21"/>
          <p:cNvGraphicFramePr/>
          <p:nvPr/>
        </p:nvGraphicFramePr>
        <p:xfrm>
          <a:off x="273645" y="1118178"/>
          <a:ext cx="3000000" cy="3000000"/>
        </p:xfrm>
        <a:graphic>
          <a:graphicData uri="http://schemas.openxmlformats.org/drawingml/2006/table">
            <a:tbl>
              <a:tblPr>
                <a:noFill/>
                <a:tableStyleId>{AFEEB983-ABB0-4D2F-B1C9-87526AB2DE86}</a:tableStyleId>
              </a:tblPr>
              <a:tblGrid>
                <a:gridCol w="1159325"/>
                <a:gridCol w="1125400"/>
                <a:gridCol w="1247175"/>
                <a:gridCol w="1247175"/>
                <a:gridCol w="1247175"/>
                <a:gridCol w="1184600"/>
                <a:gridCol w="1309750"/>
              </a:tblGrid>
              <a:tr h="262375">
                <a:tc gridSpan="7">
                  <a:txBody>
                    <a:bodyPr/>
                    <a:lstStyle/>
                    <a:p>
                      <a:pPr indent="0" lvl="0" marL="0" rtl="0" algn="l">
                        <a:spcBef>
                          <a:spcPts val="0"/>
                        </a:spcBef>
                        <a:spcAft>
                          <a:spcPts val="0"/>
                        </a:spcAft>
                        <a:buNone/>
                      </a:pPr>
                      <a:r>
                        <a:rPr b="1" lang="en" sz="1800">
                          <a:latin typeface="Raleway"/>
                          <a:ea typeface="Raleway"/>
                          <a:cs typeface="Raleway"/>
                          <a:sym typeface="Raleway"/>
                        </a:rPr>
                        <a:t>Tinnitus, </a:t>
                      </a:r>
                      <a:r>
                        <a:rPr b="1" lang="en" sz="1800">
                          <a:solidFill>
                            <a:schemeClr val="dk1"/>
                          </a:solidFill>
                          <a:latin typeface="Raleway"/>
                          <a:ea typeface="Raleway"/>
                          <a:cs typeface="Raleway"/>
                          <a:sym typeface="Raleway"/>
                        </a:rPr>
                        <a:t>Bonferroni Significant</a:t>
                      </a:r>
                      <a:endParaRPr b="1" sz="1800">
                        <a:latin typeface="Raleway"/>
                        <a:ea typeface="Raleway"/>
                        <a:cs typeface="Raleway"/>
                        <a:sym typeface="Raleway"/>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solidFill>
                      <a:srgbClr val="FFF2CC"/>
                    </a:solidFill>
                  </a:tcPr>
                </a:tc>
                <a:tc hMerge="1"/>
                <a:tc hMerge="1"/>
                <a:tc hMerge="1"/>
                <a:tc hMerge="1"/>
                <a:tc hMerge="1"/>
                <a:tc hMerge="1"/>
              </a:tr>
              <a:tr h="201150">
                <a:tc>
                  <a:txBody>
                    <a:bodyPr/>
                    <a:lstStyle/>
                    <a:p>
                      <a:pPr indent="0" lvl="0" marL="0" rtl="0" algn="l">
                        <a:lnSpc>
                          <a:spcPct val="115000"/>
                        </a:lnSpc>
                        <a:spcBef>
                          <a:spcPts val="0"/>
                        </a:spcBef>
                        <a:spcAft>
                          <a:spcPts val="0"/>
                        </a:spcAft>
                        <a:buNone/>
                      </a:pPr>
                      <a:r>
                        <a:rPr b="1" lang="en"/>
                        <a:t>Gene</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t>Ancestry</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t>Mask</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t>MAF</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t>Test</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t>Raw P</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b="1" lang="en"/>
                        <a:t>Bonferroni P</a:t>
                      </a:r>
                      <a:endParaRPr b="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i="1" lang="en"/>
                        <a:t>OR2M4</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EUR</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ALL</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SKAT</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4.07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0.02224</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i="1" lang="en"/>
                        <a:t>OR2M4</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EUR</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ALL</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Burden </a:t>
                      </a:r>
                      <a:endParaRPr/>
                    </a:p>
                    <a:p>
                      <a:pPr indent="0" lvl="0" marL="0" rtl="0" algn="l">
                        <a:spcBef>
                          <a:spcPts val="0"/>
                        </a:spcBef>
                        <a:spcAft>
                          <a:spcPts val="0"/>
                        </a:spcAft>
                        <a:buNone/>
                      </a:pPr>
                      <a:r>
                        <a:rPr lang="en"/>
                        <a:t>(</a:t>
                      </a:r>
                      <a:r>
                        <a:rPr lang="en">
                          <a:solidFill>
                            <a:schemeClr val="dk1"/>
                          </a:solidFill>
                          <a:latin typeface="Roboto"/>
                          <a:ea typeface="Roboto"/>
                          <a:cs typeface="Roboto"/>
                          <a:sym typeface="Roboto"/>
                        </a:rPr>
                        <a:t>β</a:t>
                      </a:r>
                      <a:r>
                        <a:rPr lang="en">
                          <a:solidFill>
                            <a:schemeClr val="dk1"/>
                          </a:solidFill>
                        </a:rPr>
                        <a:t> </a:t>
                      </a:r>
                      <a:r>
                        <a:rPr lang="en" sz="1100">
                          <a:solidFill>
                            <a:schemeClr val="dk1"/>
                          </a:solidFill>
                        </a:rPr>
                        <a:t>= </a:t>
                      </a:r>
                      <a:r>
                        <a:rPr lang="en"/>
                        <a:t>0.642)</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5.28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0.02885</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b="1" i="1" lang="en"/>
                        <a:t>KCNH8</a:t>
                      </a:r>
                      <a:endParaRPr b="1"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Combined</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pDM</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Burden </a:t>
                      </a:r>
                      <a:endParaRPr/>
                    </a:p>
                    <a:p>
                      <a:pPr indent="0" lvl="0" marL="0" rtl="0" algn="l">
                        <a:spcBef>
                          <a:spcPts val="0"/>
                        </a:spcBef>
                        <a:spcAft>
                          <a:spcPts val="0"/>
                        </a:spcAft>
                        <a:buNone/>
                      </a:pPr>
                      <a:r>
                        <a:rPr lang="en"/>
                        <a:t>(</a:t>
                      </a:r>
                      <a:r>
                        <a:rPr lang="en">
                          <a:solidFill>
                            <a:schemeClr val="dk1"/>
                          </a:solidFill>
                          <a:latin typeface="Roboto"/>
                          <a:ea typeface="Roboto"/>
                          <a:cs typeface="Roboto"/>
                          <a:sym typeface="Roboto"/>
                        </a:rPr>
                        <a:t>β</a:t>
                      </a:r>
                      <a:r>
                        <a:rPr lang="en">
                          <a:solidFill>
                            <a:schemeClr val="dk1"/>
                          </a:solidFill>
                        </a:rPr>
                        <a:t> </a:t>
                      </a:r>
                      <a:r>
                        <a:rPr lang="en" sz="1100">
                          <a:solidFill>
                            <a:schemeClr val="dk1"/>
                          </a:solidFill>
                        </a:rPr>
                        <a:t>= </a:t>
                      </a:r>
                      <a:r>
                        <a:rPr lang="en"/>
                        <a:t>0.677)</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6.00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0.03389</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i="1" lang="en"/>
                        <a:t>FBXL7</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EUR</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ALL</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Burden </a:t>
                      </a:r>
                      <a:endParaRPr/>
                    </a:p>
                    <a:p>
                      <a:pPr indent="0" lvl="0" marL="0" rtl="0" algn="l">
                        <a:spcBef>
                          <a:spcPts val="0"/>
                        </a:spcBef>
                        <a:spcAft>
                          <a:spcPts val="0"/>
                        </a:spcAft>
                        <a:buNone/>
                      </a:pPr>
                      <a:r>
                        <a:rPr lang="en"/>
                        <a:t>(</a:t>
                      </a:r>
                      <a:r>
                        <a:rPr lang="en">
                          <a:solidFill>
                            <a:schemeClr val="dk1"/>
                          </a:solidFill>
                          <a:latin typeface="Roboto"/>
                          <a:ea typeface="Roboto"/>
                          <a:cs typeface="Roboto"/>
                          <a:sym typeface="Roboto"/>
                        </a:rPr>
                        <a:t>β</a:t>
                      </a:r>
                      <a:r>
                        <a:rPr lang="en">
                          <a:solidFill>
                            <a:schemeClr val="dk1"/>
                          </a:solidFill>
                        </a:rPr>
                        <a:t> </a:t>
                      </a:r>
                      <a:r>
                        <a:rPr lang="en" sz="1100">
                          <a:solidFill>
                            <a:schemeClr val="dk1"/>
                          </a:solidFill>
                        </a:rPr>
                        <a:t>= </a:t>
                      </a:r>
                      <a:r>
                        <a:rPr lang="en"/>
                        <a:t>0.672)</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4.51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0.03640</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r h="227375">
                <a:tc>
                  <a:txBody>
                    <a:bodyPr/>
                    <a:lstStyle/>
                    <a:p>
                      <a:pPr indent="0" lvl="0" marL="0" rtl="0" algn="l">
                        <a:spcBef>
                          <a:spcPts val="0"/>
                        </a:spcBef>
                        <a:spcAft>
                          <a:spcPts val="0"/>
                        </a:spcAft>
                        <a:buNone/>
                      </a:pPr>
                      <a:r>
                        <a:rPr i="1" lang="en"/>
                        <a:t>AQP3</a:t>
                      </a:r>
                      <a:endParaRPr i="1"/>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AFR</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pLOF</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0.001</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spcBef>
                          <a:spcPts val="0"/>
                        </a:spcBef>
                        <a:spcAft>
                          <a:spcPts val="0"/>
                        </a:spcAft>
                        <a:buNone/>
                      </a:pPr>
                      <a:r>
                        <a:rPr lang="en"/>
                        <a:t>Burden </a:t>
                      </a:r>
                      <a:endParaRPr/>
                    </a:p>
                    <a:p>
                      <a:pPr indent="0" lvl="0" marL="0" rtl="0" algn="l">
                        <a:spcBef>
                          <a:spcPts val="0"/>
                        </a:spcBef>
                        <a:spcAft>
                          <a:spcPts val="0"/>
                        </a:spcAft>
                        <a:buNone/>
                      </a:pPr>
                      <a:r>
                        <a:rPr lang="en"/>
                        <a:t>(</a:t>
                      </a:r>
                      <a:r>
                        <a:rPr lang="en">
                          <a:solidFill>
                            <a:schemeClr val="dk1"/>
                          </a:solidFill>
                          <a:latin typeface="Roboto"/>
                          <a:ea typeface="Roboto"/>
                          <a:cs typeface="Roboto"/>
                          <a:sym typeface="Roboto"/>
                        </a:rPr>
                        <a:t>β</a:t>
                      </a:r>
                      <a:r>
                        <a:rPr lang="en">
                          <a:solidFill>
                            <a:schemeClr val="dk1"/>
                          </a:solidFill>
                        </a:rPr>
                        <a:t> </a:t>
                      </a:r>
                      <a:r>
                        <a:rPr lang="en" sz="1100">
                          <a:solidFill>
                            <a:schemeClr val="dk1"/>
                          </a:solidFill>
                        </a:rPr>
                        <a:t>= </a:t>
                      </a:r>
                      <a:r>
                        <a:rPr lang="en"/>
                        <a:t>3.116)</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4.57 × 10⁻⁶</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c>
                  <a:txBody>
                    <a:bodyPr/>
                    <a:lstStyle/>
                    <a:p>
                      <a:pPr indent="0" lvl="0" marL="0" rtl="0" algn="l">
                        <a:lnSpc>
                          <a:spcPct val="115000"/>
                        </a:lnSpc>
                        <a:spcBef>
                          <a:spcPts val="0"/>
                        </a:spcBef>
                        <a:spcAft>
                          <a:spcPts val="0"/>
                        </a:spcAft>
                        <a:buNone/>
                      </a:pPr>
                      <a:r>
                        <a:rPr lang="en"/>
                        <a:t>0.03877</a:t>
                      </a:r>
                      <a:endParaRPr/>
                    </a:p>
                  </a:txBody>
                  <a:tcPr marT="91425" marB="91425" marR="91425" marL="91425">
                    <a:lnL cap="flat" cmpd="sng" w="38100">
                      <a:solidFill>
                        <a:srgbClr val="CD0568"/>
                      </a:solidFill>
                      <a:prstDash val="solid"/>
                      <a:round/>
                      <a:headEnd len="sm" w="sm" type="none"/>
                      <a:tailEnd len="sm" w="sm" type="none"/>
                    </a:lnL>
                    <a:lnR cap="flat" cmpd="sng" w="38100">
                      <a:solidFill>
                        <a:srgbClr val="CD0568"/>
                      </a:solidFill>
                      <a:prstDash val="solid"/>
                      <a:round/>
                      <a:headEnd len="sm" w="sm" type="none"/>
                      <a:tailEnd len="sm" w="sm" type="none"/>
                    </a:lnR>
                    <a:lnT cap="flat" cmpd="sng" w="38100">
                      <a:solidFill>
                        <a:srgbClr val="CD0568"/>
                      </a:solidFill>
                      <a:prstDash val="solid"/>
                      <a:round/>
                      <a:headEnd len="sm" w="sm" type="none"/>
                      <a:tailEnd len="sm" w="sm" type="none"/>
                    </a:lnT>
                    <a:lnB cap="flat" cmpd="sng" w="38100">
                      <a:solidFill>
                        <a:srgbClr val="CD0568"/>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2"/>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Discussion</a:t>
            </a:r>
            <a:endParaRPr b="1">
              <a:latin typeface="Raleway"/>
              <a:ea typeface="Raleway"/>
              <a:cs typeface="Raleway"/>
              <a:sym typeface="Raleway"/>
            </a:endParaRPr>
          </a:p>
        </p:txBody>
      </p:sp>
      <p:sp>
        <p:nvSpPr>
          <p:cNvPr id="182" name="Google Shape;182;p22"/>
          <p:cNvSpPr txBox="1"/>
          <p:nvPr>
            <p:ph idx="1" type="body"/>
          </p:nvPr>
        </p:nvSpPr>
        <p:spPr>
          <a:xfrm>
            <a:off x="311700" y="1193775"/>
            <a:ext cx="8370000" cy="6009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Clr>
                <a:srgbClr val="000000"/>
              </a:buClr>
              <a:buSzPts val="1800"/>
              <a:buChar char="●"/>
            </a:pPr>
            <a:r>
              <a:rPr i="1" lang="en">
                <a:solidFill>
                  <a:srgbClr val="000000"/>
                </a:solidFill>
              </a:rPr>
              <a:t>ZNF175 </a:t>
            </a:r>
            <a:r>
              <a:rPr lang="en">
                <a:solidFill>
                  <a:srgbClr val="000000"/>
                </a:solidFill>
              </a:rPr>
              <a:t>did</a:t>
            </a:r>
            <a:r>
              <a:rPr b="1" lang="en">
                <a:solidFill>
                  <a:srgbClr val="000000"/>
                </a:solidFill>
              </a:rPr>
              <a:t> NOT </a:t>
            </a:r>
            <a:r>
              <a:rPr lang="en">
                <a:solidFill>
                  <a:srgbClr val="000000"/>
                </a:solidFill>
              </a:rPr>
              <a:t>meet the genome-wide single-variant threshold (</a:t>
            </a:r>
            <a:r>
              <a:rPr lang="en">
                <a:solidFill>
                  <a:srgbClr val="FF0000"/>
                </a:solidFill>
              </a:rPr>
              <a:t>5e-8</a:t>
            </a:r>
            <a:r>
              <a:rPr lang="en">
                <a:solidFill>
                  <a:srgbClr val="000000"/>
                </a:solidFill>
              </a:rPr>
              <a:t>) in the  ExWAS and did it </a:t>
            </a:r>
            <a:r>
              <a:rPr b="1" lang="en">
                <a:solidFill>
                  <a:srgbClr val="000000"/>
                </a:solidFill>
              </a:rPr>
              <a:t>NOT</a:t>
            </a:r>
            <a:r>
              <a:rPr lang="en">
                <a:solidFill>
                  <a:srgbClr val="000000"/>
                </a:solidFill>
              </a:rPr>
              <a:t> meet the significance threshold in the rare variant analyses </a:t>
            </a:r>
            <a:endParaRPr>
              <a:solidFill>
                <a:srgbClr val="000000"/>
              </a:solidFill>
            </a:endParaRPr>
          </a:p>
          <a:p>
            <a:pPr indent="-342900" lvl="0" marL="457200" rtl="0" algn="l">
              <a:spcBef>
                <a:spcPts val="0"/>
              </a:spcBef>
              <a:spcAft>
                <a:spcPts val="0"/>
              </a:spcAft>
              <a:buClr>
                <a:srgbClr val="000000"/>
              </a:buClr>
              <a:buSzPts val="1800"/>
              <a:buChar char="●"/>
            </a:pPr>
            <a:r>
              <a:rPr lang="en">
                <a:solidFill>
                  <a:srgbClr val="000000"/>
                </a:solidFill>
              </a:rPr>
              <a:t>None of the top hits of the ExWAS overlap with the top hits of the rare variant</a:t>
            </a:r>
            <a:endParaRPr>
              <a:solidFill>
                <a:srgbClr val="000000"/>
              </a:solidFill>
            </a:endParaRPr>
          </a:p>
          <a:p>
            <a:pPr indent="0" lvl="0" marL="0" rtl="0" algn="l">
              <a:spcBef>
                <a:spcPts val="1200"/>
              </a:spcBef>
              <a:spcAft>
                <a:spcPts val="0"/>
              </a:spcAft>
              <a:buNone/>
            </a:pPr>
            <a:r>
              <a:t/>
            </a:r>
            <a:endParaRPr>
              <a:solidFill>
                <a:srgbClr val="000000"/>
              </a:solidFill>
            </a:endParaRPr>
          </a:p>
          <a:p>
            <a:pPr indent="0" lvl="0" marL="0" rtl="0" algn="l">
              <a:spcBef>
                <a:spcPts val="1200"/>
              </a:spcBef>
              <a:spcAft>
                <a:spcPts val="0"/>
              </a:spcAft>
              <a:buNone/>
            </a:pPr>
            <a:r>
              <a:t/>
            </a:r>
            <a:endParaRPr b="1">
              <a:solidFill>
                <a:srgbClr val="000000"/>
              </a:solidFill>
            </a:endParaRPr>
          </a:p>
          <a:p>
            <a:pPr indent="0" lvl="0" marL="0" rtl="0" algn="l">
              <a:lnSpc>
                <a:spcPct val="100000"/>
              </a:lnSpc>
              <a:spcBef>
                <a:spcPts val="1200"/>
              </a:spcBef>
              <a:spcAft>
                <a:spcPts val="0"/>
              </a:spcAft>
              <a:buNone/>
            </a:pPr>
            <a:r>
              <a:t/>
            </a:r>
            <a:endParaRPr b="1">
              <a:solidFill>
                <a:srgbClr val="000000"/>
              </a:solidFill>
            </a:endParaRPr>
          </a:p>
        </p:txBody>
      </p:sp>
      <p:cxnSp>
        <p:nvCxnSpPr>
          <p:cNvPr id="183" name="Google Shape;183;p22"/>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sp>
        <p:nvSpPr>
          <p:cNvPr id="184" name="Google Shape;184;p22"/>
          <p:cNvSpPr txBox="1"/>
          <p:nvPr/>
        </p:nvSpPr>
        <p:spPr>
          <a:xfrm>
            <a:off x="4842275" y="3042504"/>
            <a:ext cx="3816300" cy="2451900"/>
          </a:xfrm>
          <a:prstGeom prst="rect">
            <a:avLst/>
          </a:prstGeom>
          <a:noFill/>
          <a:ln>
            <a:noFill/>
          </a:ln>
        </p:spPr>
        <p:txBody>
          <a:bodyPr anchorCtr="0" anchor="t" bIns="91425" lIns="91425" spcFirstLastPara="1" rIns="91425" wrap="square" tIns="91425">
            <a:noAutofit/>
          </a:bodyPr>
          <a:lstStyle/>
          <a:p>
            <a:pPr indent="-301335" lvl="0" marL="374072" rtl="0" algn="l">
              <a:spcBef>
                <a:spcPts val="0"/>
              </a:spcBef>
              <a:spcAft>
                <a:spcPts val="0"/>
              </a:spcAft>
              <a:buClr>
                <a:schemeClr val="dk1"/>
              </a:buClr>
              <a:buSzPts val="1800"/>
              <a:buChar char="●"/>
            </a:pPr>
            <a:r>
              <a:rPr lang="en" sz="1800">
                <a:solidFill>
                  <a:schemeClr val="dk1"/>
                </a:solidFill>
              </a:rPr>
              <a:t>Top hits included genes involved in multiple pathways </a:t>
            </a:r>
            <a:endParaRPr sz="1800">
              <a:solidFill>
                <a:schemeClr val="dk1"/>
              </a:solidFill>
            </a:endParaRPr>
          </a:p>
          <a:p>
            <a:pPr indent="-275937" lvl="1" marL="748146" rtl="0" algn="l">
              <a:spcBef>
                <a:spcPts val="0"/>
              </a:spcBef>
              <a:spcAft>
                <a:spcPts val="0"/>
              </a:spcAft>
              <a:buClr>
                <a:schemeClr val="dk1"/>
              </a:buClr>
              <a:buSzPts val="1400"/>
              <a:buChar char="○"/>
            </a:pPr>
            <a:r>
              <a:rPr i="1" lang="en">
                <a:solidFill>
                  <a:schemeClr val="dk1"/>
                </a:solidFill>
              </a:rPr>
              <a:t>KCNH8</a:t>
            </a:r>
            <a:r>
              <a:rPr lang="en">
                <a:solidFill>
                  <a:schemeClr val="dk1"/>
                </a:solidFill>
              </a:rPr>
              <a:t> → codes for potassium channel </a:t>
            </a:r>
            <a:r>
              <a:rPr lang="en">
                <a:solidFill>
                  <a:schemeClr val="dk1"/>
                </a:solidFill>
                <a:highlight>
                  <a:srgbClr val="FFF2CC"/>
                </a:highlight>
              </a:rPr>
              <a:t>(one of the top hits for tinnitus) </a:t>
            </a:r>
            <a:endParaRPr>
              <a:solidFill>
                <a:schemeClr val="dk1"/>
              </a:solidFill>
              <a:highlight>
                <a:srgbClr val="FFF2CC"/>
              </a:highlight>
            </a:endParaRPr>
          </a:p>
          <a:p>
            <a:pPr indent="-275937" lvl="1" marL="748146" rtl="0" algn="l">
              <a:spcBef>
                <a:spcPts val="0"/>
              </a:spcBef>
              <a:spcAft>
                <a:spcPts val="0"/>
              </a:spcAft>
              <a:buClr>
                <a:schemeClr val="dk1"/>
              </a:buClr>
              <a:buSzPts val="1400"/>
              <a:buChar char="○"/>
            </a:pPr>
            <a:r>
              <a:rPr i="1" lang="en">
                <a:solidFill>
                  <a:schemeClr val="dk1"/>
                </a:solidFill>
              </a:rPr>
              <a:t>AARS1 </a:t>
            </a:r>
            <a:r>
              <a:rPr lang="en">
                <a:solidFill>
                  <a:schemeClr val="dk1"/>
                </a:solidFill>
              </a:rPr>
              <a:t>→ implicated in </a:t>
            </a:r>
            <a:r>
              <a:rPr lang="en">
                <a:solidFill>
                  <a:schemeClr val="dk1"/>
                </a:solidFill>
              </a:rPr>
              <a:t>neurological</a:t>
            </a:r>
            <a:r>
              <a:rPr lang="en">
                <a:solidFill>
                  <a:schemeClr val="dk1"/>
                </a:solidFill>
              </a:rPr>
              <a:t> disorders </a:t>
            </a:r>
            <a:r>
              <a:rPr lang="en">
                <a:solidFill>
                  <a:schemeClr val="dk1"/>
                </a:solidFill>
                <a:highlight>
                  <a:srgbClr val="FFD8D8"/>
                </a:highlight>
              </a:rPr>
              <a:t>(one of the top hits for hearing loss)</a:t>
            </a:r>
            <a:r>
              <a:rPr lang="en">
                <a:solidFill>
                  <a:schemeClr val="dk1"/>
                </a:solidFill>
              </a:rPr>
              <a:t> </a:t>
            </a:r>
            <a:endParaRPr>
              <a:solidFill>
                <a:schemeClr val="dk1"/>
              </a:solidFill>
            </a:endParaRPr>
          </a:p>
        </p:txBody>
      </p:sp>
      <p:cxnSp>
        <p:nvCxnSpPr>
          <p:cNvPr id="185" name="Google Shape;185;p22"/>
          <p:cNvCxnSpPr/>
          <p:nvPr/>
        </p:nvCxnSpPr>
        <p:spPr>
          <a:xfrm>
            <a:off x="4688750" y="2623172"/>
            <a:ext cx="3300" cy="2129700"/>
          </a:xfrm>
          <a:prstGeom prst="straightConnector1">
            <a:avLst/>
          </a:prstGeom>
          <a:noFill/>
          <a:ln cap="flat" cmpd="sng" w="38100">
            <a:solidFill>
              <a:srgbClr val="CD0568"/>
            </a:solidFill>
            <a:prstDash val="solid"/>
            <a:round/>
            <a:headEnd len="med" w="med" type="none"/>
            <a:tailEnd len="med" w="med" type="none"/>
          </a:ln>
        </p:spPr>
      </p:cxnSp>
      <p:sp>
        <p:nvSpPr>
          <p:cNvPr id="186" name="Google Shape;186;p22"/>
          <p:cNvSpPr txBox="1"/>
          <p:nvPr/>
        </p:nvSpPr>
        <p:spPr>
          <a:xfrm>
            <a:off x="1960325" y="2641476"/>
            <a:ext cx="1253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D0568"/>
                </a:solidFill>
                <a:latin typeface="Raleway"/>
                <a:ea typeface="Raleway"/>
                <a:cs typeface="Raleway"/>
                <a:sym typeface="Raleway"/>
              </a:rPr>
              <a:t>ExWAS</a:t>
            </a:r>
            <a:endParaRPr b="1" sz="1800">
              <a:solidFill>
                <a:srgbClr val="CD0568"/>
              </a:solidFill>
              <a:latin typeface="Raleway"/>
              <a:ea typeface="Raleway"/>
              <a:cs typeface="Raleway"/>
              <a:sym typeface="Raleway"/>
            </a:endParaRPr>
          </a:p>
        </p:txBody>
      </p:sp>
      <p:sp>
        <p:nvSpPr>
          <p:cNvPr id="187" name="Google Shape;187;p22"/>
          <p:cNvSpPr txBox="1"/>
          <p:nvPr/>
        </p:nvSpPr>
        <p:spPr>
          <a:xfrm>
            <a:off x="5442871" y="2641466"/>
            <a:ext cx="3440700" cy="44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solidFill>
                  <a:srgbClr val="CD0568"/>
                </a:solidFill>
                <a:latin typeface="Raleway"/>
                <a:ea typeface="Raleway"/>
                <a:cs typeface="Raleway"/>
                <a:sym typeface="Raleway"/>
              </a:rPr>
              <a:t>Rare Variant Analysis</a:t>
            </a:r>
            <a:endParaRPr b="1" sz="1800">
              <a:solidFill>
                <a:srgbClr val="CD0568"/>
              </a:solidFill>
              <a:latin typeface="Raleway"/>
              <a:ea typeface="Raleway"/>
              <a:cs typeface="Raleway"/>
              <a:sym typeface="Raleway"/>
            </a:endParaRPr>
          </a:p>
        </p:txBody>
      </p:sp>
      <p:sp>
        <p:nvSpPr>
          <p:cNvPr id="188" name="Google Shape;188;p22"/>
          <p:cNvSpPr txBox="1"/>
          <p:nvPr/>
        </p:nvSpPr>
        <p:spPr>
          <a:xfrm>
            <a:off x="369125" y="3021130"/>
            <a:ext cx="4166100" cy="1650300"/>
          </a:xfrm>
          <a:prstGeom prst="rect">
            <a:avLst/>
          </a:prstGeom>
          <a:noFill/>
          <a:ln>
            <a:noFill/>
          </a:ln>
        </p:spPr>
        <p:txBody>
          <a:bodyPr anchorCtr="0" anchor="t" bIns="91425" lIns="91425" spcFirstLastPara="1" rIns="91425" wrap="square" tIns="91425">
            <a:noAutofit/>
          </a:bodyPr>
          <a:lstStyle/>
          <a:p>
            <a:pPr indent="-301335" lvl="0" marL="374072" rtl="0" algn="l">
              <a:spcBef>
                <a:spcPts val="0"/>
              </a:spcBef>
              <a:spcAft>
                <a:spcPts val="0"/>
              </a:spcAft>
              <a:buClr>
                <a:schemeClr val="dk2"/>
              </a:buClr>
              <a:buSzPts val="1800"/>
              <a:buChar char="●"/>
            </a:pPr>
            <a:r>
              <a:rPr lang="en" sz="1800"/>
              <a:t>Top hits were marked as likely benign by AlphaMissense</a:t>
            </a:r>
            <a:endParaRPr sz="1800"/>
          </a:p>
          <a:p>
            <a:pPr indent="-301335" lvl="0" marL="374072" rtl="0" algn="l">
              <a:spcBef>
                <a:spcPts val="0"/>
              </a:spcBef>
              <a:spcAft>
                <a:spcPts val="0"/>
              </a:spcAft>
              <a:buClr>
                <a:schemeClr val="dk2"/>
              </a:buClr>
              <a:buSzPts val="1800"/>
              <a:buChar char="●"/>
            </a:pPr>
            <a:r>
              <a:rPr lang="en" sz="1800"/>
              <a:t>Studying hearing loss with the PMBB requires a different approach</a:t>
            </a:r>
            <a:endParaRPr sz="1800"/>
          </a:p>
          <a:p>
            <a:pPr indent="0" lvl="0" marL="0" rtl="0" algn="l">
              <a:spcBef>
                <a:spcPts val="0"/>
              </a:spcBef>
              <a:spcAft>
                <a:spcPts val="0"/>
              </a:spcAft>
              <a:buNone/>
            </a:pPr>
            <a:r>
              <a:t/>
            </a:r>
            <a:endParaRPr sz="1800">
              <a:solidFill>
                <a:schemeClr val="dk2"/>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23"/>
          <p:cNvSpPr txBox="1"/>
          <p:nvPr>
            <p:ph type="title"/>
          </p:nvPr>
        </p:nvSpPr>
        <p:spPr>
          <a:xfrm>
            <a:off x="311700" y="3043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1" lang="en">
                <a:latin typeface="Raleway"/>
                <a:ea typeface="Raleway"/>
                <a:cs typeface="Raleway"/>
                <a:sym typeface="Raleway"/>
              </a:rPr>
              <a:t>Future Directions</a:t>
            </a:r>
            <a:endParaRPr b="1">
              <a:latin typeface="Raleway"/>
              <a:ea typeface="Raleway"/>
              <a:cs typeface="Raleway"/>
              <a:sym typeface="Raleway"/>
            </a:endParaRPr>
          </a:p>
        </p:txBody>
      </p:sp>
      <p:sp>
        <p:nvSpPr>
          <p:cNvPr id="194" name="Google Shape;194;p23"/>
          <p:cNvSpPr txBox="1"/>
          <p:nvPr>
            <p:ph idx="1" type="body"/>
          </p:nvPr>
        </p:nvSpPr>
        <p:spPr>
          <a:xfrm>
            <a:off x="242375" y="1340200"/>
            <a:ext cx="8370000" cy="3416400"/>
          </a:xfrm>
          <a:prstGeom prst="rect">
            <a:avLst/>
          </a:prstGeom>
        </p:spPr>
        <p:txBody>
          <a:bodyPr anchorCtr="0" anchor="t" bIns="91425" lIns="91425" spcFirstLastPara="1" rIns="91425" wrap="square" tIns="91425">
            <a:noAutofit/>
          </a:bodyPr>
          <a:lstStyle/>
          <a:p>
            <a:pPr indent="-301335" lvl="0" marL="374072" rtl="0" algn="l">
              <a:lnSpc>
                <a:spcPct val="100000"/>
              </a:lnSpc>
              <a:spcBef>
                <a:spcPts val="0"/>
              </a:spcBef>
              <a:spcAft>
                <a:spcPts val="0"/>
              </a:spcAft>
              <a:buClr>
                <a:schemeClr val="dk1"/>
              </a:buClr>
              <a:buSzPts val="1800"/>
              <a:buChar char="●"/>
            </a:pPr>
            <a:r>
              <a:rPr b="1" lang="en">
                <a:solidFill>
                  <a:schemeClr val="dk1"/>
                </a:solidFill>
              </a:rPr>
              <a:t>External Replication</a:t>
            </a:r>
            <a:endParaRPr>
              <a:solidFill>
                <a:schemeClr val="dk1"/>
              </a:solidFill>
            </a:endParaRPr>
          </a:p>
          <a:p>
            <a:pPr indent="-275937" lvl="1" marL="748146" rtl="0" algn="l">
              <a:lnSpc>
                <a:spcPct val="100000"/>
              </a:lnSpc>
              <a:spcBef>
                <a:spcPts val="0"/>
              </a:spcBef>
              <a:spcAft>
                <a:spcPts val="0"/>
              </a:spcAft>
              <a:buClr>
                <a:schemeClr val="dk1"/>
              </a:buClr>
              <a:buSzPts val="1400"/>
              <a:buChar char="○"/>
            </a:pPr>
            <a:r>
              <a:rPr lang="en">
                <a:solidFill>
                  <a:schemeClr val="dk1"/>
                </a:solidFill>
              </a:rPr>
              <a:t>UK Biobank </a:t>
            </a:r>
            <a:endParaRPr>
              <a:solidFill>
                <a:schemeClr val="dk1"/>
              </a:solidFill>
            </a:endParaRPr>
          </a:p>
          <a:p>
            <a:pPr indent="-275937" lvl="1" marL="748146" rtl="0" algn="l">
              <a:lnSpc>
                <a:spcPct val="100000"/>
              </a:lnSpc>
              <a:spcBef>
                <a:spcPts val="0"/>
              </a:spcBef>
              <a:spcAft>
                <a:spcPts val="0"/>
              </a:spcAft>
              <a:buClr>
                <a:schemeClr val="dk1"/>
              </a:buClr>
              <a:buSzPts val="1400"/>
              <a:buChar char="○"/>
            </a:pPr>
            <a:r>
              <a:rPr i="1" lang="en">
                <a:solidFill>
                  <a:schemeClr val="dk1"/>
                </a:solidFill>
              </a:rPr>
              <a:t>All of Us</a:t>
            </a:r>
            <a:r>
              <a:rPr lang="en">
                <a:solidFill>
                  <a:schemeClr val="dk1"/>
                </a:solidFill>
              </a:rPr>
              <a:t> Research Program. </a:t>
            </a:r>
            <a:endParaRPr>
              <a:solidFill>
                <a:schemeClr val="dk1"/>
              </a:solidFill>
            </a:endParaRPr>
          </a:p>
          <a:p>
            <a:pPr indent="-301335" lvl="0" marL="374072" rtl="0" algn="l">
              <a:lnSpc>
                <a:spcPct val="100000"/>
              </a:lnSpc>
              <a:spcBef>
                <a:spcPts val="1000"/>
              </a:spcBef>
              <a:spcAft>
                <a:spcPts val="0"/>
              </a:spcAft>
              <a:buClr>
                <a:schemeClr val="dk1"/>
              </a:buClr>
              <a:buSzPts val="1800"/>
              <a:buChar char="●"/>
            </a:pPr>
            <a:r>
              <a:rPr b="1" lang="en">
                <a:solidFill>
                  <a:schemeClr val="dk1"/>
                </a:solidFill>
              </a:rPr>
              <a:t>Functional Validation</a:t>
            </a:r>
            <a:endParaRPr>
              <a:solidFill>
                <a:schemeClr val="dk1"/>
              </a:solidFill>
            </a:endParaRPr>
          </a:p>
          <a:p>
            <a:pPr indent="-275937" lvl="1" marL="748146" rtl="0" algn="l">
              <a:lnSpc>
                <a:spcPct val="100000"/>
              </a:lnSpc>
              <a:spcBef>
                <a:spcPts val="0"/>
              </a:spcBef>
              <a:spcAft>
                <a:spcPts val="0"/>
              </a:spcAft>
              <a:buClr>
                <a:schemeClr val="dk1"/>
              </a:buClr>
              <a:buSzPts val="1400"/>
              <a:buChar char="○"/>
            </a:pPr>
            <a:r>
              <a:rPr lang="en">
                <a:solidFill>
                  <a:schemeClr val="dk1"/>
                </a:solidFill>
              </a:rPr>
              <a:t>Investigate some of the top genes revealed in mice (just as the ZNF175 gene was investigated and supported as a candidate hearing loss gene)</a:t>
            </a:r>
            <a:endParaRPr>
              <a:solidFill>
                <a:schemeClr val="dk1"/>
              </a:solidFill>
            </a:endParaRPr>
          </a:p>
          <a:p>
            <a:pPr indent="0" lvl="0" marL="374072" rtl="0" algn="l">
              <a:spcBef>
                <a:spcPts val="0"/>
              </a:spcBef>
              <a:spcAft>
                <a:spcPts val="0"/>
              </a:spcAft>
              <a:buNone/>
            </a:pPr>
            <a:r>
              <a:t/>
            </a:r>
            <a:endParaRPr b="1">
              <a:solidFill>
                <a:schemeClr val="dk1"/>
              </a:solidFill>
            </a:endParaRPr>
          </a:p>
        </p:txBody>
      </p:sp>
      <p:cxnSp>
        <p:nvCxnSpPr>
          <p:cNvPr id="195" name="Google Shape;195;p23"/>
          <p:cNvCxnSpPr/>
          <p:nvPr/>
        </p:nvCxnSpPr>
        <p:spPr>
          <a:xfrm>
            <a:off x="242382" y="877025"/>
            <a:ext cx="8641200" cy="7500"/>
          </a:xfrm>
          <a:prstGeom prst="straightConnector1">
            <a:avLst/>
          </a:prstGeom>
          <a:noFill/>
          <a:ln cap="flat" cmpd="sng" w="38100">
            <a:solidFill>
              <a:srgbClr val="CD0568"/>
            </a:solidFill>
            <a:prstDash val="solid"/>
            <a:round/>
            <a:headEnd len="med" w="med" type="none"/>
            <a:tailEnd len="med" w="med" type="none"/>
          </a:ln>
        </p:spPr>
      </p:cxn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D8D8"/>
        </a:solidFill>
      </p:bgPr>
    </p:bg>
    <p:spTree>
      <p:nvGrpSpPr>
        <p:cNvPr id="199" name="Shape 199"/>
        <p:cNvGrpSpPr/>
        <p:nvPr/>
      </p:nvGrpSpPr>
      <p:grpSpPr>
        <a:xfrm>
          <a:off x="0" y="0"/>
          <a:ext cx="0" cy="0"/>
          <a:chOff x="0" y="0"/>
          <a:chExt cx="0" cy="0"/>
        </a:xfrm>
      </p:grpSpPr>
      <p:sp>
        <p:nvSpPr>
          <p:cNvPr id="200" name="Google Shape;200;p24"/>
          <p:cNvSpPr txBox="1"/>
          <p:nvPr>
            <p:ph type="title"/>
          </p:nvPr>
        </p:nvSpPr>
        <p:spPr>
          <a:xfrm>
            <a:off x="239875" y="231919"/>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4000">
                <a:latin typeface="Raleway"/>
                <a:ea typeface="Raleway"/>
                <a:cs typeface="Raleway"/>
                <a:sym typeface="Raleway"/>
              </a:rPr>
              <a:t>Thank you!</a:t>
            </a:r>
            <a:endParaRPr b="1" sz="4000">
              <a:latin typeface="Raleway"/>
              <a:ea typeface="Raleway"/>
              <a:cs typeface="Raleway"/>
              <a:sym typeface="Raleway"/>
            </a:endParaRPr>
          </a:p>
        </p:txBody>
      </p:sp>
      <p:sp>
        <p:nvSpPr>
          <p:cNvPr id="201" name="Google Shape;201;p24"/>
          <p:cNvSpPr txBox="1"/>
          <p:nvPr/>
        </p:nvSpPr>
        <p:spPr>
          <a:xfrm>
            <a:off x="372925" y="1210225"/>
            <a:ext cx="8254500" cy="3401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solidFill>
                  <a:schemeClr val="dk1"/>
                </a:solidFill>
              </a:rPr>
              <a:t>Acknowledgements</a:t>
            </a:r>
            <a:endParaRPr b="1" sz="1800">
              <a:solidFill>
                <a:schemeClr val="dk1"/>
              </a:solidFill>
            </a:endParaRPr>
          </a:p>
          <a:p>
            <a:pPr indent="0" lvl="0" marL="0" rtl="0" algn="l">
              <a:spcBef>
                <a:spcPts val="0"/>
              </a:spcBef>
              <a:spcAft>
                <a:spcPts val="0"/>
              </a:spcAft>
              <a:buNone/>
            </a:pPr>
            <a:r>
              <a:rPr lang="en" sz="1800">
                <a:solidFill>
                  <a:schemeClr val="dk1"/>
                </a:solidFill>
              </a:rPr>
              <a:t>This work is supported by the following: Penn Genetics Summer Internship Program (PGSIP), University of Pennsylvania Research Trainee Affairs </a:t>
            </a:r>
            <a:endParaRPr sz="1800">
              <a:solidFill>
                <a:schemeClr val="dk1"/>
              </a:solidFill>
            </a:endParaRPr>
          </a:p>
          <a:p>
            <a:pPr indent="0" lvl="0" marL="0" rtl="0" algn="l">
              <a:spcBef>
                <a:spcPts val="0"/>
              </a:spcBef>
              <a:spcAft>
                <a:spcPts val="0"/>
              </a:spcAft>
              <a:buNone/>
            </a:pPr>
            <a:r>
              <a:t/>
            </a:r>
            <a:endParaRPr sz="1800">
              <a:solidFill>
                <a:schemeClr val="dk2"/>
              </a:solidFill>
            </a:endParaRPr>
          </a:p>
        </p:txBody>
      </p:sp>
      <p:pic>
        <p:nvPicPr>
          <p:cNvPr id="202" name="Google Shape;202;p24" title="Penn RTA Penn PSOM Logo.jpg"/>
          <p:cNvPicPr preferRelativeResize="0"/>
          <p:nvPr/>
        </p:nvPicPr>
        <p:blipFill>
          <a:blip r:embed="rId4">
            <a:alphaModFix/>
          </a:blip>
          <a:stretch>
            <a:fillRect/>
          </a:stretch>
        </p:blipFill>
        <p:spPr>
          <a:xfrm>
            <a:off x="4561046" y="4247951"/>
            <a:ext cx="1511903" cy="729375"/>
          </a:xfrm>
          <a:prstGeom prst="rect">
            <a:avLst/>
          </a:prstGeom>
          <a:solidFill>
            <a:srgbClr val="FFFFFF"/>
          </a:solidFill>
          <a:ln>
            <a:noFill/>
          </a:ln>
        </p:spPr>
      </p:pic>
      <p:pic>
        <p:nvPicPr>
          <p:cNvPr id="203" name="Google Shape;203;p24"/>
          <p:cNvPicPr preferRelativeResize="0"/>
          <p:nvPr/>
        </p:nvPicPr>
        <p:blipFill>
          <a:blip r:embed="rId5">
            <a:alphaModFix/>
          </a:blip>
          <a:stretch>
            <a:fillRect/>
          </a:stretch>
        </p:blipFill>
        <p:spPr>
          <a:xfrm>
            <a:off x="251401" y="4471752"/>
            <a:ext cx="2531027" cy="505570"/>
          </a:xfrm>
          <a:prstGeom prst="rect">
            <a:avLst/>
          </a:prstGeom>
          <a:noFill/>
          <a:ln>
            <a:noFill/>
          </a:ln>
        </p:spPr>
      </p:pic>
      <p:pic>
        <p:nvPicPr>
          <p:cNvPr id="204" name="Google Shape;204;p24" title="halllogo1_thin.png"/>
          <p:cNvPicPr preferRelativeResize="0"/>
          <p:nvPr/>
        </p:nvPicPr>
        <p:blipFill rotWithShape="1">
          <a:blip r:embed="rId6">
            <a:alphaModFix/>
          </a:blip>
          <a:srcRect b="24710" l="0" r="0" t="0"/>
          <a:stretch/>
        </p:blipFill>
        <p:spPr>
          <a:xfrm>
            <a:off x="2867325" y="4066349"/>
            <a:ext cx="1438100" cy="910967"/>
          </a:xfrm>
          <a:prstGeom prst="rect">
            <a:avLst/>
          </a:prstGeom>
          <a:noFill/>
          <a:ln>
            <a:noFill/>
          </a:ln>
        </p:spPr>
      </p:pic>
      <p:cxnSp>
        <p:nvCxnSpPr>
          <p:cNvPr id="205" name="Google Shape;205;p24"/>
          <p:cNvCxnSpPr/>
          <p:nvPr/>
        </p:nvCxnSpPr>
        <p:spPr>
          <a:xfrm>
            <a:off x="251407" y="1003675"/>
            <a:ext cx="8641200" cy="7500"/>
          </a:xfrm>
          <a:prstGeom prst="straightConnector1">
            <a:avLst/>
          </a:prstGeom>
          <a:noFill/>
          <a:ln cap="flat" cmpd="sng" w="38100">
            <a:solidFill>
              <a:srgbClr val="CD0568"/>
            </a:solidFill>
            <a:prstDash val="solid"/>
            <a:round/>
            <a:headEnd len="med" w="med" type="none"/>
            <a:tailEnd len="med" w="med" type="none"/>
          </a:ln>
        </p:spPr>
      </p:cxnSp>
      <p:pic>
        <p:nvPicPr>
          <p:cNvPr id="206" name="Google Shape;206;p24"/>
          <p:cNvPicPr preferRelativeResize="0"/>
          <p:nvPr/>
        </p:nvPicPr>
        <p:blipFill>
          <a:blip r:embed="rId7">
            <a:alphaModFix/>
          </a:blip>
          <a:stretch>
            <a:fillRect/>
          </a:stretch>
        </p:blipFill>
        <p:spPr>
          <a:xfrm>
            <a:off x="8268000" y="4611923"/>
            <a:ext cx="624600" cy="365400"/>
          </a:xfrm>
          <a:prstGeom prst="roundRect">
            <a:avLst>
              <a:gd fmla="val 16667" name="adj"/>
            </a:avLst>
          </a:prstGeom>
          <a:noFill/>
          <a:ln>
            <a:noFill/>
          </a:ln>
        </p:spPr>
      </p:pic>
      <p:pic>
        <p:nvPicPr>
          <p:cNvPr id="207" name="Google Shape;207;p24" title="images.png"/>
          <p:cNvPicPr preferRelativeResize="0"/>
          <p:nvPr/>
        </p:nvPicPr>
        <p:blipFill>
          <a:blip r:embed="rId8">
            <a:alphaModFix/>
          </a:blip>
          <a:stretch>
            <a:fillRect/>
          </a:stretch>
        </p:blipFill>
        <p:spPr>
          <a:xfrm>
            <a:off x="6451425" y="4247938"/>
            <a:ext cx="1438100" cy="729375"/>
          </a:xfrm>
          <a:prstGeom prst="rect">
            <a:avLst/>
          </a:prstGeom>
          <a:noFill/>
          <a:ln>
            <a:noFill/>
          </a:ln>
        </p:spPr>
      </p:pic>
      <p:sp>
        <p:nvSpPr>
          <p:cNvPr id="208" name="Google Shape;208;p24"/>
          <p:cNvSpPr txBox="1"/>
          <p:nvPr/>
        </p:nvSpPr>
        <p:spPr>
          <a:xfrm>
            <a:off x="473525" y="2355175"/>
            <a:ext cx="3980400" cy="1629000"/>
          </a:xfrm>
          <a:prstGeom prst="rect">
            <a:avLst/>
          </a:prstGeom>
          <a:solidFill>
            <a:srgbClr val="000000">
              <a:alpha val="0"/>
            </a:srgbClr>
          </a:solidFill>
          <a:ln cap="flat" cmpd="sng" w="38100">
            <a:solidFill>
              <a:srgbClr val="CD0568"/>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Hall Lab</a:t>
            </a:r>
            <a:endParaRPr b="1" sz="1800"/>
          </a:p>
          <a:p>
            <a:pPr indent="0" lvl="0" marL="0" rtl="0" algn="l">
              <a:spcBef>
                <a:spcPts val="0"/>
              </a:spcBef>
              <a:spcAft>
                <a:spcPts val="0"/>
              </a:spcAft>
              <a:buNone/>
            </a:pPr>
            <a:r>
              <a:rPr lang="en" sz="1800"/>
              <a:t>Nikki Palmiero</a:t>
            </a:r>
            <a:endParaRPr sz="1800"/>
          </a:p>
          <a:p>
            <a:pPr indent="0" lvl="0" marL="0" rtl="0" algn="l">
              <a:spcBef>
                <a:spcPts val="0"/>
              </a:spcBef>
              <a:spcAft>
                <a:spcPts val="0"/>
              </a:spcAft>
              <a:buNone/>
            </a:pPr>
            <a:r>
              <a:rPr lang="en" sz="1800"/>
              <a:t>Molly Hall</a:t>
            </a:r>
            <a:endParaRPr sz="1800"/>
          </a:p>
          <a:p>
            <a:pPr indent="0" lvl="0" marL="0" rtl="0" algn="l">
              <a:spcBef>
                <a:spcPts val="0"/>
              </a:spcBef>
              <a:spcAft>
                <a:spcPts val="0"/>
              </a:spcAft>
              <a:buClr>
                <a:schemeClr val="dk1"/>
              </a:buClr>
              <a:buSzPts val="1100"/>
              <a:buFont typeface="Arial"/>
              <a:buNone/>
            </a:pPr>
            <a:r>
              <a:rPr lang="en" sz="1800">
                <a:solidFill>
                  <a:schemeClr val="dk1"/>
                </a:solidFill>
              </a:rPr>
              <a:t>Andre Rico</a:t>
            </a:r>
            <a:endParaRPr sz="1800">
              <a:solidFill>
                <a:schemeClr val="dk1"/>
              </a:solidFill>
            </a:endParaRPr>
          </a:p>
          <a:p>
            <a:pPr indent="0" lvl="0" marL="0" rtl="0" algn="l">
              <a:spcBef>
                <a:spcPts val="0"/>
              </a:spcBef>
              <a:spcAft>
                <a:spcPts val="0"/>
              </a:spcAft>
              <a:buNone/>
            </a:pPr>
            <a:r>
              <a:t/>
            </a:r>
            <a:endParaRPr sz="1800"/>
          </a:p>
        </p:txBody>
      </p:sp>
      <p:sp>
        <p:nvSpPr>
          <p:cNvPr id="209" name="Google Shape;209;p24"/>
          <p:cNvSpPr txBox="1"/>
          <p:nvPr/>
        </p:nvSpPr>
        <p:spPr>
          <a:xfrm>
            <a:off x="4655375" y="2355175"/>
            <a:ext cx="3980400" cy="1629000"/>
          </a:xfrm>
          <a:prstGeom prst="rect">
            <a:avLst/>
          </a:prstGeom>
          <a:solidFill>
            <a:srgbClr val="000000">
              <a:alpha val="0"/>
            </a:srgbClr>
          </a:solidFill>
          <a:ln cap="flat" cmpd="sng" w="38100">
            <a:solidFill>
              <a:srgbClr val="CD0568"/>
            </a:solidFill>
            <a:prstDash val="solid"/>
            <a:round/>
            <a:headEnd len="sm" w="sm" type="none"/>
            <a:tailEnd len="sm" w="sm" type="none"/>
          </a:ln>
        </p:spPr>
        <p:txBody>
          <a:bodyPr anchorCtr="0" anchor="t" bIns="91425" lIns="91425" spcFirstLastPara="1" rIns="91425" wrap="square" tIns="91425">
            <a:noAutofit/>
          </a:bodyPr>
          <a:lstStyle/>
          <a:p>
            <a:pPr indent="0" lvl="0" marL="0" rtl="0" algn="l">
              <a:spcBef>
                <a:spcPts val="0"/>
              </a:spcBef>
              <a:spcAft>
                <a:spcPts val="0"/>
              </a:spcAft>
              <a:buNone/>
            </a:pPr>
            <a:r>
              <a:rPr b="1" lang="en" sz="1800"/>
              <a:t>Epstein </a:t>
            </a:r>
            <a:r>
              <a:rPr b="1" lang="en" sz="1800"/>
              <a:t>Lab</a:t>
            </a:r>
            <a:endParaRPr b="1" sz="1800"/>
          </a:p>
          <a:p>
            <a:pPr indent="0" lvl="0" marL="0" rtl="0" algn="l">
              <a:spcBef>
                <a:spcPts val="0"/>
              </a:spcBef>
              <a:spcAft>
                <a:spcPts val="0"/>
              </a:spcAft>
              <a:buNone/>
            </a:pPr>
            <a:r>
              <a:rPr lang="en" sz="1800">
                <a:solidFill>
                  <a:schemeClr val="dk1"/>
                </a:solidFill>
              </a:rPr>
              <a:t>Doug Epstein</a:t>
            </a:r>
            <a:endParaRPr sz="1800"/>
          </a:p>
          <a:p>
            <a:pPr indent="0" lvl="0" marL="0" rtl="0" algn="l">
              <a:spcBef>
                <a:spcPts val="0"/>
              </a:spcBef>
              <a:spcAft>
                <a:spcPts val="0"/>
              </a:spcAft>
              <a:buNone/>
            </a:pPr>
            <a:r>
              <a:rPr lang="en" sz="1800"/>
              <a:t>Staci Rakowiecki</a:t>
            </a:r>
            <a:endParaRPr sz="1800"/>
          </a:p>
          <a:p>
            <a:pPr indent="0" lvl="0" marL="0" rtl="0" algn="l">
              <a:spcBef>
                <a:spcPts val="0"/>
              </a:spcBef>
              <a:spcAft>
                <a:spcPts val="0"/>
              </a:spcAft>
              <a:buNone/>
            </a:pPr>
            <a:r>
              <a:rPr lang="en" sz="1800"/>
              <a:t>Tingfang Chen</a:t>
            </a:r>
            <a:endParaRPr sz="1800"/>
          </a:p>
          <a:p>
            <a:pPr indent="0" lvl="0" marL="0" rtl="0" algn="l">
              <a:spcBef>
                <a:spcPts val="0"/>
              </a:spcBef>
              <a:spcAft>
                <a:spcPts val="0"/>
              </a:spcAft>
              <a:buClr>
                <a:schemeClr val="dk1"/>
              </a:buClr>
              <a:buSzPts val="1100"/>
              <a:buFont typeface="Arial"/>
              <a:buNone/>
            </a:pPr>
            <a:r>
              <a:rPr lang="en" sz="1800"/>
              <a:t>Sophie Shapiro</a:t>
            </a:r>
            <a:endParaRPr sz="1800">
              <a:solidFill>
                <a:schemeClr val="dk1"/>
              </a:solidFill>
              <a:highlight>
                <a:srgbClr val="FFFFFF"/>
              </a:highlight>
              <a:latin typeface="Poppins"/>
              <a:ea typeface="Poppins"/>
              <a:cs typeface="Poppins"/>
              <a:sym typeface="Poppins"/>
            </a:endParaRPr>
          </a:p>
          <a:p>
            <a:pPr indent="0" lvl="0" marL="0" rtl="0" algn="l">
              <a:lnSpc>
                <a:spcPct val="115000"/>
              </a:lnSpc>
              <a:spcBef>
                <a:spcPts val="0"/>
              </a:spcBef>
              <a:spcAft>
                <a:spcPts val="0"/>
              </a:spcAft>
              <a:buClr>
                <a:schemeClr val="dk1"/>
              </a:buClr>
              <a:buSzPts val="1100"/>
              <a:buFont typeface="Arial"/>
              <a:buNone/>
            </a:pPr>
            <a:r>
              <a:t/>
            </a:r>
            <a:endParaRPr sz="1100">
              <a:solidFill>
                <a:schemeClr val="dk1"/>
              </a:solidFill>
            </a:endParaRPr>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